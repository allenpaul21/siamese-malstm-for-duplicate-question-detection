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d7ea1d578448b6" /><Relationship Type="http://schemas.openxmlformats.org/officeDocument/2006/relationships/extended-properties" Target="/docProps/app.xml" Id="R38ea349fadb242b0" /><Relationship Type="http://schemas.openxmlformats.org/officeDocument/2006/relationships/officeDocument" Target="/ppt/presentation.xml" Id="Rd97143f184954caa" /></Relationships>
</file>

<file path=ppt/presentation.xml><?xml version="1.0" encoding="utf-8"?>
<p:presentation xmlns:p="http://schemas.openxmlformats.org/presentationml/2006/main">
  <p:sldMasterIdLst>
    <p:sldMasterId xmlns:r="http://schemas.openxmlformats.org/officeDocument/2006/relationships" id="2147483648" r:id="R7aa219a79181495b"/>
  </p:sldMasterIdLst>
  <p:notesMasterIdLst>
    <p:notesMasterId xmlns:r="http://schemas.openxmlformats.org/officeDocument/2006/relationships" r:id="Rabdf142de2674267"/>
  </p:notesMasterIdLst>
  <p:sldIdLst>
    <p:sldId xmlns:r="http://schemas.openxmlformats.org/officeDocument/2006/relationships" id="256" r:id="R96ece13cc0b44a4d"/>
    <p:sldId xmlns:r="http://schemas.openxmlformats.org/officeDocument/2006/relationships" id="257" r:id="R2c1c35ce4ba34e00"/>
    <p:sldId xmlns:r="http://schemas.openxmlformats.org/officeDocument/2006/relationships" id="258" r:id="Re97be31cc44a4da6"/>
    <p:sldId xmlns:r="http://schemas.openxmlformats.org/officeDocument/2006/relationships" id="259" r:id="R206ad46c8f414878"/>
    <p:sldId xmlns:r="http://schemas.openxmlformats.org/officeDocument/2006/relationships" id="260" r:id="R8592cd18755247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c2a29e2c5c4307" /><Relationship Type="http://schemas.openxmlformats.org/officeDocument/2006/relationships/slideMaster" Target="/ppt/slideMasters/slideMaster1.xml" Id="R7aa219a79181495b" /><Relationship Type="http://schemas.openxmlformats.org/officeDocument/2006/relationships/notesMaster" Target="/ppt/notesMasters/notesMaster1.xml" Id="Rabdf142de2674267" /><Relationship Type="http://schemas.openxmlformats.org/officeDocument/2006/relationships/presProps" Target="/ppt/presProps.xml" Id="R3587cdbdda5d4c32" /><Relationship Type="http://schemas.openxmlformats.org/officeDocument/2006/relationships/tableStyles" Target="/ppt/tableStyles.xml" Id="R0929f1915b3744d5" /><Relationship Type="http://schemas.openxmlformats.org/officeDocument/2006/relationships/slide" Target="/ppt/slides/slide1.xml" Id="R96ece13cc0b44a4d" /><Relationship Type="http://schemas.openxmlformats.org/officeDocument/2006/relationships/slide" Target="/ppt/slides/slide2.xml" Id="R2c1c35ce4ba34e00" /><Relationship Type="http://schemas.openxmlformats.org/officeDocument/2006/relationships/slide" Target="/ppt/slides/slide3.xml" Id="Re97be31cc44a4da6" /><Relationship Type="http://schemas.openxmlformats.org/officeDocument/2006/relationships/slide" Target="/ppt/slides/slide4.xml" Id="R206ad46c8f414878" /><Relationship Type="http://schemas.openxmlformats.org/officeDocument/2006/relationships/slide" Target="/ppt/slides/slide5.xml" Id="R8592cd18755247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38f0e2c61341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32c5d7826f4405" /><Relationship Type="http://schemas.openxmlformats.org/officeDocument/2006/relationships/notesMaster" Target="/ppt/notesMasters/notesMaster1.xml" Id="R60d37e38d70c49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2354b37a9e4273" /><Relationship Type="http://schemas.openxmlformats.org/officeDocument/2006/relationships/notesMaster" Target="/ppt/notesMasters/notesMaster1.xml" Id="R4cdd228efefa4e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25699298ea43de" /><Relationship Type="http://schemas.openxmlformats.org/officeDocument/2006/relationships/notesMaster" Target="/ppt/notesMasters/notesMaster1.xml" Id="R5e917418e54d44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ce5e8baa8b4ab9" /><Relationship Type="http://schemas.openxmlformats.org/officeDocument/2006/relationships/notesMaster" Target="/ppt/notesMasters/notesMaster1.xml" Id="R8e028aa0b2494e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022d6d4c7643f1" /><Relationship Type="http://schemas.openxmlformats.org/officeDocument/2006/relationships/notesMaster" Target="/ppt/notesMasters/notesMaster1.xml" Id="Ra6b428a561bb44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introduction. MaLSTM means Manhattan LSTM. We compare pairs of questions and return a binary decision. The example is illustrative, not a measured model prediction. Sources: DuplicateQuestion_MaLSTM/model.py and ensemble.py.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Dataset_train.csv and DuplicateQuestion_MaLSTM/model.py. The fitting split has 272,895 pairs, validation 30,322, and test 101,073. Together these total 404,290. Test splitting is stratified with seed 42. The validation set is the final 10% of the shuffled training portion. Missing questions become empty strings. Fit the vocabulary only on fitting data, excluding validation and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DuplicateQuestion_MaLSTM/model.py and ensemble.py. Three independent models use Google News, FastText Crawl, and FastText Subword embeddings. Each model shares its embedding layer and LSTM across the two question branches. Embeddings are frozen. LSTM has 50 units. Thirty epochs is inferred from the paper plots. LSTM units, optimizer, loss, and batch size are implementation choices. A raw score is a similarity score used for binary prediction and need not be a calibrated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DuplicateQuestion_MaLSTM/results/summary.csv, results/original/outputs/prepared.npz, ensemble_predictions.npy, and model.py REFERENCE table transcribed from ATML_RP.pdf Table 4. All metrics below are percentages on the original test set. Paper column gives paper-reported accuracy only. Original ensemble confusion matrix: actual nonduplicate/predicted nonduplicate 56,883; actual nonduplicate/predicted duplicate 6,874; actual duplicate/predicted nonduplicate 11,508; actual duplicate/predicted duplicate 25,808. Calibration curves compare mean score to actual duplicate frequency per bin. A curve on the diagonal indicates good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DuplicateQuestion_MaLSTM/results/tuned/comparison.csv and ensemble.py. Original blend weights: 0.33 Google, 0.33 FastText, 0.34 Subword. Isotonic weights: 0.30/0.45/0.25 and threshold 0.48. Validation selects isotonic blending. Its test accuracy gain is 0.539214 percentage points. Stacking achieves 82.3563 test accuracy but was not selected by validation. Calibration Brier score falls from 0.1341055 to 0.1273568, lower is better. Half the validation data fits calibration/stacking and half selects weights and thresholds. Original test metrics were already inspected, so extensions are exploratory. Paper reports 91.14%, which this project did not reproduce.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f4f453c52b49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e6bfe388374b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2332f7067e44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7f4e75882245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eef479a96b47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8564048fa94c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8E36E3-A664-449D-9889-116AA6B61E4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2943D4-4360-48F0-8DBE-3DBD01E03D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9B8629-D25F-4AEB-BDF2-3A61F30B6F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874275-9213-40AB-AA16-91EB6BFB91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497165-91BB-4CC8-9DA2-CDF70E1677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FE5184-B1D1-472A-957B-D938BA64B7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0897DB-CB0F-469A-82AD-AC4A379324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B140BB-ABCA-4F16-A97F-1989894926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ED6F06-9D14-489B-B02B-84C9CC5B6D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F18F0F-2353-4145-B90B-C022D23A95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029fa6cb2c4dd4" /><Relationship Type="http://schemas.openxmlformats.org/officeDocument/2006/relationships/slideLayout" Target="/ppt/slideLayouts/slideLayout1.xml" Id="R2c7a16b340524112" /><Relationship Type="http://schemas.openxmlformats.org/officeDocument/2006/relationships/slideLayout" Target="/ppt/slideLayouts/slideLayout2.xml" Id="R12221e94195440ad" /><Relationship Type="http://schemas.openxmlformats.org/officeDocument/2006/relationships/slideLayout" Target="/ppt/slideLayouts/slideLayout3.xml" Id="R3542c85cab264730" /><Relationship Type="http://schemas.openxmlformats.org/officeDocument/2006/relationships/slideLayout" Target="/ppt/slideLayouts/slideLayout4.xml" Id="R2100f69f72a34b8b" /><Relationship Type="http://schemas.openxmlformats.org/officeDocument/2006/relationships/slideLayout" Target="/ppt/slideLayouts/slideLayout5.xml" Id="Reaa6ed76d6234bda" /><Relationship Type="http://schemas.openxmlformats.org/officeDocument/2006/relationships/slideLayout" Target="/ppt/slideLayouts/slideLayout6.xml" Id="Rc29a8cc564044b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7a16b340524112"/>
    <p:sldLayoutId xmlns:r="http://schemas.openxmlformats.org/officeDocument/2006/relationships" id="2147483650" r:id="R12221e94195440ad"/>
    <p:sldLayoutId xmlns:r="http://schemas.openxmlformats.org/officeDocument/2006/relationships" id="2147483651" r:id="R3542c85cab264730"/>
    <p:sldLayoutId xmlns:r="http://schemas.openxmlformats.org/officeDocument/2006/relationships" id="2147483652" r:id="R2100f69f72a34b8b"/>
    <p:sldLayoutId xmlns:r="http://schemas.openxmlformats.org/officeDocument/2006/relationships" id="2147483653" r:id="Reaa6ed76d6234bda"/>
    <p:sldLayoutId xmlns:r="http://schemas.openxmlformats.org/officeDocument/2006/relationships" id="2147483654" r:id="Rc29a8cc564044b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42bbda2ac74d9a" /><Relationship Type="http://schemas.openxmlformats.org/officeDocument/2006/relationships/notesSlide" Target="/ppt/notesSlides/notesSlide1.xml" Id="R34e116ca2dae40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3474c0b49ae47a4" /><Relationship Type="http://schemas.openxmlformats.org/officeDocument/2006/relationships/notesSlide" Target="/ppt/notesSlides/notesSlide2.xml" Id="Rd836e2945ae24f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e82df9263e4ee7" /><Relationship Type="http://schemas.openxmlformats.org/officeDocument/2006/relationships/notesSlide" Target="/ppt/notesSlides/notesSlide3.xml" Id="R7a59855902b249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1e54f195ac4ecb" /><Relationship Type="http://schemas.openxmlformats.org/officeDocument/2006/relationships/notesSlide" Target="/ppt/notesSlides/notesSlide4.xml" Id="R8b32794e364141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9efa0fe2aa47a9" /><Relationship Type="http://schemas.openxmlformats.org/officeDocument/2006/relationships/notesSlide" Target="/ppt/notesSlides/notesSlide5.xml" Id="Rb9b58625ea00435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F3DB31-8611-4CD0-81E2-A384E4ED9105}"/>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Duplicate Question Detection</a:t>
            </a:r>
          </a:p>
        </p:txBody>
      </p:sp>
      <p:sp>
        <p:nvSpPr>
          <p:cNvPr id="2" name="">
            <a:extLst xmlns:a="http://schemas.openxmlformats.org/drawingml/2006/main">
              <a:ext uri="{FF2B5EF4-FFF2-40B4-BE49-F238E27FC236}">
                <a16:creationId xmlns:a16="http://schemas.microsoft.com/office/drawing/2014/main" id="{40475587-3998-4161-9AA2-C158759AA9EB}"/>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01</a:t>
            </a:r>
          </a:p>
        </p:txBody>
      </p:sp>
      <p:sp>
        <p:nvSpPr>
          <p:cNvPr id="3" name="">
            <a:extLst xmlns:a="http://schemas.openxmlformats.org/drawingml/2006/main">
              <a:ext uri="{FF2B5EF4-FFF2-40B4-BE49-F238E27FC236}">
                <a16:creationId xmlns:a16="http://schemas.microsoft.com/office/drawing/2014/main" id="{E2312E2F-9ECF-48B1-BEA4-991F4A4A19EF}"/>
              </a:ext>
            </a:extLst>
          </p:cNvPr>
          <p:cNvSpPr>
            <a:spLocks xmlns:a="http://schemas.openxmlformats.org/drawingml/2006/main" noGrp="1"/>
          </p:cNvSpPr>
          <p:nvPr/>
        </p:nvSpPr>
        <p:spPr>
          <a:xfrm xmlns:a="http://schemas.openxmlformats.org/drawingml/2006/main">
            <a:off x="762000" y="12573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463A6"/>
                </a:solidFill>
              </a:defRPr>
            </a:defPPr>
          </a:lstStyle>
          <a:p xmlns:a="http://schemas.openxmlformats.org/drawingml/2006/main">
            <a:pPr>
              <a:defRPr sz="2550" b="1">
                <a:solidFill>
                  <a:srgbClr val="2463A6"/>
                </a:solidFill>
              </a:defRPr>
            </a:pPr>
            <a:r>
              <a:rPr sz="2550" b="1">
                <a:solidFill>
                  <a:srgbClr val="2463A6"/>
                </a:solidFill>
              </a:rPr>
              <a:t>Using Siamese MaLSTM</a:t>
            </a:r>
          </a:p>
        </p:txBody>
      </p:sp>
      <p:sp>
        <p:nvSpPr>
          <p:cNvPr id="4" name="">
            <a:extLst xmlns:a="http://schemas.openxmlformats.org/drawingml/2006/main">
              <a:ext uri="{FF2B5EF4-FFF2-40B4-BE49-F238E27FC236}">
                <a16:creationId xmlns:a16="http://schemas.microsoft.com/office/drawing/2014/main" id="{3031D191-F108-438E-B228-F2D2AE2AAE1F}"/>
              </a:ext>
            </a:extLst>
          </p:cNvPr>
          <p:cNvSpPr>
            <a:spLocks xmlns:a="http://schemas.openxmlformats.org/drawingml/2006/main" noGrp="1"/>
          </p:cNvSpPr>
          <p:nvPr/>
        </p:nvSpPr>
        <p:spPr>
          <a:xfrm xmlns:a="http://schemas.openxmlformats.org/drawingml/2006/main">
            <a:off x="762000" y="22479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Objective</a:t>
            </a:r>
          </a:p>
        </p:txBody>
      </p:sp>
      <p:sp>
        <p:nvSpPr>
          <p:cNvPr id="5" name="">
            <a:extLst xmlns:a="http://schemas.openxmlformats.org/drawingml/2006/main">
              <a:ext uri="{FF2B5EF4-FFF2-40B4-BE49-F238E27FC236}">
                <a16:creationId xmlns:a16="http://schemas.microsoft.com/office/drawing/2014/main" id="{E4723C42-BCBA-46FA-966D-2F4FC3A6250A}"/>
              </a:ext>
            </a:extLst>
          </p:cNvPr>
          <p:cNvSpPr>
            <a:spLocks xmlns:a="http://schemas.openxmlformats.org/drawingml/2006/main" noGrp="1"/>
          </p:cNvSpPr>
          <p:nvPr/>
        </p:nvSpPr>
        <p:spPr>
          <a:xfrm xmlns:a="http://schemas.openxmlformats.org/drawingml/2006/main">
            <a:off x="762000" y="2705100"/>
            <a:ext cx="10382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324F"/>
                </a:solidFill>
              </a:defRPr>
            </a:defPPr>
          </a:lstStyle>
          <a:p xmlns:a="http://schemas.openxmlformats.org/drawingml/2006/main">
            <a:pPr>
              <a:defRPr sz="2250" b="0">
                <a:solidFill>
                  <a:srgbClr val="16324F"/>
                </a:solidFill>
              </a:defRPr>
            </a:pPr>
            <a:r>
              <a:rPr sz="2250" b="0">
                <a:solidFill>
                  <a:srgbClr val="16324F"/>
                </a:solidFill>
              </a:rPr>
              <a:t>Identify questions that ask the same thing, even when their wording differs.</a:t>
            </a:r>
          </a:p>
        </p:txBody>
      </p:sp>
      <p:sp>
        <p:nvSpPr>
          <p:cNvPr id="6" name="">
            <a:extLst xmlns:a="http://schemas.openxmlformats.org/drawingml/2006/main">
              <a:ext uri="{FF2B5EF4-FFF2-40B4-BE49-F238E27FC236}">
                <a16:creationId xmlns:a16="http://schemas.microsoft.com/office/drawing/2014/main" id="{B60B910B-886D-45C6-A6B2-B3889C71609C}"/>
              </a:ext>
            </a:extLst>
          </p:cNvPr>
          <p:cNvSpPr>
            <a:spLocks xmlns:a="http://schemas.openxmlformats.org/drawingml/2006/main" noGrp="1"/>
          </p:cNvSpPr>
          <p:nvPr/>
        </p:nvSpPr>
        <p:spPr>
          <a:xfrm xmlns:a="http://schemas.openxmlformats.org/drawingml/2006/main">
            <a:off x="762000" y="40195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Example of a duplicate pair</a:t>
            </a:r>
          </a:p>
        </p:txBody>
      </p:sp>
      <p:sp>
        <p:nvSpPr>
          <p:cNvPr id="7" name="">
            <a:extLst xmlns:a="http://schemas.openxmlformats.org/drawingml/2006/main">
              <a:ext uri="{FF2B5EF4-FFF2-40B4-BE49-F238E27FC236}">
                <a16:creationId xmlns:a16="http://schemas.microsoft.com/office/drawing/2014/main" id="{606CA98C-0BC8-40C8-9630-7BAF11F97B10}"/>
              </a:ext>
            </a:extLst>
          </p:cNvPr>
          <p:cNvSpPr>
            <a:spLocks xmlns:a="http://schemas.openxmlformats.org/drawingml/2006/main" noGrp="1"/>
          </p:cNvSpPr>
          <p:nvPr/>
        </p:nvSpPr>
        <p:spPr>
          <a:xfrm xmlns:a="http://schemas.openxmlformats.org/drawingml/2006/main">
            <a:off x="762000" y="44958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324F"/>
                </a:solidFill>
              </a:defRPr>
            </a:defPPr>
          </a:lstStyle>
          <a:p xmlns:a="http://schemas.openxmlformats.org/drawingml/2006/main">
            <a:pPr>
              <a:defRPr sz="2250" b="0">
                <a:solidFill>
                  <a:srgbClr val="16324F"/>
                </a:solidFill>
              </a:defRPr>
            </a:pPr>
            <a:r>
              <a:rPr sz="2250" b="0">
                <a:solidFill>
                  <a:srgbClr val="16324F"/>
                </a:solidFill>
              </a:rPr>
              <a:t>“How can I learn Python?”</a:t>
            </a:r>
          </a:p>
          <a:p xmlns:a="http://schemas.openxmlformats.org/drawingml/2006/main">
            <a:pPr>
              <a:defRPr sz="2250" b="0">
                <a:solidFill>
                  <a:srgbClr val="16324F"/>
                </a:solidFill>
              </a:defRPr>
            </a:pPr>
            <a:r>
              <a:rPr sz="2250" b="0">
                <a:solidFill>
                  <a:srgbClr val="16324F"/>
                </a:solidFill>
              </a:rPr>
              <a:t>“What is the best way to learn Python?”</a:t>
            </a:r>
          </a:p>
        </p:txBody>
      </p:sp>
      <p:sp>
        <p:nvSpPr>
          <p:cNvPr id="8" name="">
            <a:extLst xmlns:a="http://schemas.openxmlformats.org/drawingml/2006/main">
              <a:ext uri="{FF2B5EF4-FFF2-40B4-BE49-F238E27FC236}">
                <a16:creationId xmlns:a16="http://schemas.microsoft.com/office/drawing/2014/main" id="{E518C168-9442-4F0C-B330-5E6AB9C251A9}"/>
              </a:ext>
            </a:extLst>
          </p:cNvPr>
          <p:cNvSpPr>
            <a:spLocks xmlns:a="http://schemas.openxmlformats.org/drawingml/2006/main" noGrp="1"/>
          </p:cNvSpPr>
          <p:nvPr/>
        </p:nvSpPr>
        <p:spPr>
          <a:xfrm xmlns:a="http://schemas.openxmlformats.org/drawingml/2006/main">
            <a:off x="762000" y="58483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577"/>
                </a:solidFill>
              </a:defRPr>
            </a:defPPr>
          </a:lstStyle>
          <a:p xmlns:a="http://schemas.openxmlformats.org/drawingml/2006/main">
            <a:pPr>
              <a:defRPr sz="1800" b="0">
                <a:solidFill>
                  <a:srgbClr val="536577"/>
                </a:solidFill>
              </a:defRPr>
            </a:pPr>
            <a:r>
              <a:rPr sz="1800" b="0">
                <a:solidFill>
                  <a:srgbClr val="536577"/>
                </a:solidFill>
              </a:rPr>
              <a:t>Use case: group repeated questions and help users find existing answers.</a:t>
            </a:r>
          </a:p>
        </p:txBody>
      </p:sp>
    </p:spTree>
    <p:extLst>
      <p:ext uri="{BB962C8B-B14F-4D97-AF65-F5344CB8AC3E}">
        <p14:creationId xmlns:p14="http://schemas.microsoft.com/office/powerpoint/2010/main" val="1908886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8838B1-B66F-42BD-B5EF-BD707FF1233F}"/>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Dataset and Preprocessing</a:t>
            </a:r>
          </a:p>
        </p:txBody>
      </p:sp>
      <p:sp>
        <p:nvSpPr>
          <p:cNvPr id="2" name="">
            <a:extLst xmlns:a="http://schemas.openxmlformats.org/drawingml/2006/main">
              <a:ext uri="{FF2B5EF4-FFF2-40B4-BE49-F238E27FC236}">
                <a16:creationId xmlns:a16="http://schemas.microsoft.com/office/drawing/2014/main" id="{75061175-7DCC-49C8-8526-5D8B6FD38A10}"/>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02</a:t>
            </a:r>
          </a:p>
        </p:txBody>
      </p:sp>
      <p:sp>
        <p:nvSpPr>
          <p:cNvPr id="3" name="">
            <a:extLst xmlns:a="http://schemas.openxmlformats.org/drawingml/2006/main">
              <a:ext uri="{FF2B5EF4-FFF2-40B4-BE49-F238E27FC236}">
                <a16:creationId xmlns:a16="http://schemas.microsoft.com/office/drawing/2014/main" id="{AF962718-0F00-413B-AAC4-6B9DE5C30C04}"/>
              </a:ext>
            </a:extLst>
          </p:cNvPr>
          <p:cNvSpPr>
            <a:spLocks xmlns:a="http://schemas.openxmlformats.org/drawingml/2006/main" noGrp="1"/>
          </p:cNvSpPr>
          <p:nvPr/>
        </p:nvSpPr>
        <p:spPr>
          <a:xfrm xmlns:a="http://schemas.openxmlformats.org/drawingml/2006/main">
            <a:off x="762000" y="14097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463A6"/>
                </a:solidFill>
              </a:defRPr>
            </a:defPPr>
          </a:lstStyle>
          <a:p xmlns:a="http://schemas.openxmlformats.org/drawingml/2006/main">
            <a:pPr>
              <a:defRPr sz="2175" b="1">
                <a:solidFill>
                  <a:srgbClr val="2463A6"/>
                </a:solidFill>
              </a:defRPr>
            </a:pPr>
            <a:r>
              <a:rPr sz="2175" b="1">
                <a:solidFill>
                  <a:srgbClr val="2463A6"/>
                </a:solidFill>
              </a:rPr>
              <a:t>Quora question pairs</a:t>
            </a:r>
          </a:p>
        </p:txBody>
      </p:sp>
      <p:sp>
        <p:nvSpPr>
          <p:cNvPr id="4" name="">
            <a:extLst xmlns:a="http://schemas.openxmlformats.org/drawingml/2006/main">
              <a:ext uri="{FF2B5EF4-FFF2-40B4-BE49-F238E27FC236}">
                <a16:creationId xmlns:a16="http://schemas.microsoft.com/office/drawing/2014/main" id="{8F2D3A62-0B89-46F7-AC65-FEEDE69FE66F}"/>
              </a:ext>
            </a:extLst>
          </p:cNvPr>
          <p:cNvSpPr>
            <a:spLocks xmlns:a="http://schemas.openxmlformats.org/drawingml/2006/main" noGrp="1"/>
          </p:cNvSpPr>
          <p:nvPr/>
        </p:nvSpPr>
        <p:spPr>
          <a:xfrm xmlns:a="http://schemas.openxmlformats.org/drawingml/2006/main">
            <a:off x="762000" y="1943100"/>
            <a:ext cx="4857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404,290 labeled pairs</a:t>
            </a:r>
          </a:p>
          <a:p xmlns:a="http://schemas.openxmlformats.org/drawingml/2006/main">
            <a:r>
              <a:t/>
            </a:r>
          </a:p>
          <a:p xmlns:a="http://schemas.openxmlformats.org/drawingml/2006/main">
            <a:pPr>
              <a:defRPr sz="2025" b="0">
                <a:solidFill>
                  <a:srgbClr val="16324F"/>
                </a:solidFill>
              </a:defRPr>
            </a:pPr>
            <a:r>
              <a:rPr sz="2025" b="0">
                <a:solidFill>
                  <a:srgbClr val="16324F"/>
                </a:solidFill>
              </a:rPr>
              <a:t>Each row contains two questions.</a:t>
            </a:r>
          </a:p>
          <a:p xmlns:a="http://schemas.openxmlformats.org/drawingml/2006/main">
            <a:pPr>
              <a:defRPr sz="2025" b="0">
                <a:solidFill>
                  <a:srgbClr val="16324F"/>
                </a:solidFill>
              </a:defRPr>
            </a:pPr>
            <a:r>
              <a:rPr sz="2025" b="0">
                <a:solidFill>
                  <a:srgbClr val="16324F"/>
                </a:solidFill>
              </a:rPr>
              <a:t>1 = duplicate, 0 = different</a:t>
            </a:r>
          </a:p>
        </p:txBody>
      </p:sp>
      <p:sp>
        <p:nvSpPr>
          <p:cNvPr id="5" name="">
            <a:extLst xmlns:a="http://schemas.openxmlformats.org/drawingml/2006/main">
              <a:ext uri="{FF2B5EF4-FFF2-40B4-BE49-F238E27FC236}">
                <a16:creationId xmlns:a16="http://schemas.microsoft.com/office/drawing/2014/main" id="{9D290165-4EB6-409B-A095-49E07AEC83E7}"/>
              </a:ext>
            </a:extLst>
          </p:cNvPr>
          <p:cNvSpPr>
            <a:spLocks xmlns:a="http://schemas.openxmlformats.org/drawingml/2006/main" noGrp="1"/>
          </p:cNvSpPr>
          <p:nvPr/>
        </p:nvSpPr>
        <p:spPr>
          <a:xfrm xmlns:a="http://schemas.openxmlformats.org/drawingml/2006/main">
            <a:off x="762000" y="419100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Data split</a:t>
            </a:r>
          </a:p>
        </p:txBody>
      </p:sp>
      <p:sp>
        <p:nvSpPr>
          <p:cNvPr id="6" name="">
            <a:extLst xmlns:a="http://schemas.openxmlformats.org/drawingml/2006/main">
              <a:ext uri="{FF2B5EF4-FFF2-40B4-BE49-F238E27FC236}">
                <a16:creationId xmlns:a16="http://schemas.microsoft.com/office/drawing/2014/main" id="{0170FA57-E712-4EA6-B7BC-AA293CA29E37}"/>
              </a:ext>
            </a:extLst>
          </p:cNvPr>
          <p:cNvSpPr>
            <a:spLocks xmlns:a="http://schemas.openxmlformats.org/drawingml/2006/main" noGrp="1"/>
          </p:cNvSpPr>
          <p:nvPr/>
        </p:nvSpPr>
        <p:spPr>
          <a:xfrm xmlns:a="http://schemas.openxmlformats.org/drawingml/2006/main">
            <a:off x="762000" y="466725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Training: 272,895 pairs</a:t>
            </a:r>
          </a:p>
          <a:p xmlns:a="http://schemas.openxmlformats.org/drawingml/2006/main">
            <a:pPr>
              <a:defRPr sz="2025" b="0">
                <a:solidFill>
                  <a:srgbClr val="16324F"/>
                </a:solidFill>
              </a:defRPr>
            </a:pPr>
            <a:r>
              <a:rPr sz="2025" b="0">
                <a:solidFill>
                  <a:srgbClr val="16324F"/>
                </a:solidFill>
              </a:rPr>
              <a:t>Validation: 30,322 pairs</a:t>
            </a:r>
          </a:p>
          <a:p xmlns:a="http://schemas.openxmlformats.org/drawingml/2006/main">
            <a:pPr>
              <a:defRPr sz="2025" b="0">
                <a:solidFill>
                  <a:srgbClr val="16324F"/>
                </a:solidFill>
              </a:defRPr>
            </a:pPr>
            <a:r>
              <a:rPr sz="2025" b="0">
                <a:solidFill>
                  <a:srgbClr val="16324F"/>
                </a:solidFill>
              </a:rPr>
              <a:t>Test: 101,073 pairs</a:t>
            </a:r>
          </a:p>
        </p:txBody>
      </p:sp>
      <p:sp>
        <p:nvSpPr>
          <p:cNvPr id="7" name="">
            <a:extLst xmlns:a="http://schemas.openxmlformats.org/drawingml/2006/main">
              <a:ext uri="{FF2B5EF4-FFF2-40B4-BE49-F238E27FC236}">
                <a16:creationId xmlns:a16="http://schemas.microsoft.com/office/drawing/2014/main" id="{AA38B35A-190D-4C38-81DF-C3DD17176500}"/>
              </a:ext>
            </a:extLst>
          </p:cNvPr>
          <p:cNvSpPr>
            <a:spLocks xmlns:a="http://schemas.openxmlformats.org/drawingml/2006/main" noGrp="1"/>
          </p:cNvSpPr>
          <p:nvPr/>
        </p:nvSpPr>
        <p:spPr>
          <a:xfrm xmlns:a="http://schemas.openxmlformats.org/drawingml/2006/main">
            <a:off x="6572250"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463A6"/>
                </a:solidFill>
              </a:defRPr>
            </a:defPPr>
          </a:lstStyle>
          <a:p xmlns:a="http://schemas.openxmlformats.org/drawingml/2006/main">
            <a:pPr>
              <a:defRPr sz="2175" b="1">
                <a:solidFill>
                  <a:srgbClr val="2463A6"/>
                </a:solidFill>
              </a:defRPr>
            </a:pPr>
            <a:r>
              <a:rPr sz="2175" b="1">
                <a:solidFill>
                  <a:srgbClr val="2463A6"/>
                </a:solidFill>
              </a:rPr>
              <a:t>Text preparation</a:t>
            </a:r>
          </a:p>
        </p:txBody>
      </p:sp>
      <p:sp>
        <p:nvSpPr>
          <p:cNvPr id="8" name="">
            <a:extLst xmlns:a="http://schemas.openxmlformats.org/drawingml/2006/main">
              <a:ext uri="{FF2B5EF4-FFF2-40B4-BE49-F238E27FC236}">
                <a16:creationId xmlns:a16="http://schemas.microsoft.com/office/drawing/2014/main" id="{3C1DD4A4-247F-410B-A8F0-3D76A89D9A69}"/>
              </a:ext>
            </a:extLst>
          </p:cNvPr>
          <p:cNvSpPr>
            <a:spLocks xmlns:a="http://schemas.openxmlformats.org/drawingml/2006/main" noGrp="1"/>
          </p:cNvSpPr>
          <p:nvPr/>
        </p:nvSpPr>
        <p:spPr>
          <a:xfrm xmlns:a="http://schemas.openxmlformats.org/drawingml/2006/main">
            <a:off x="6572250" y="1981200"/>
            <a:ext cx="4857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24F"/>
                </a:solidFill>
              </a:defRPr>
            </a:defPPr>
          </a:lstStyle>
          <a:p xmlns:a="http://schemas.openxmlformats.org/drawingml/2006/main">
            <a:pPr>
              <a:defRPr sz="1950" b="0">
                <a:solidFill>
                  <a:srgbClr val="16324F"/>
                </a:solidFill>
              </a:defRPr>
            </a:pPr>
            <a:r>
              <a:rPr sz="1950" b="0">
                <a:solidFill>
                  <a:srgbClr val="16324F"/>
                </a:solidFill>
              </a:rPr>
              <a:t>1. Convert text to lowercase</a:t>
            </a:r>
          </a:p>
          <a:p xmlns:a="http://schemas.openxmlformats.org/drawingml/2006/main">
            <a:r>
              <a:t/>
            </a:r>
          </a:p>
          <a:p xmlns:a="http://schemas.openxmlformats.org/drawingml/2006/main">
            <a:pPr>
              <a:defRPr sz="1950" b="0">
                <a:solidFill>
                  <a:srgbClr val="16324F"/>
                </a:solidFill>
              </a:defRPr>
            </a:pPr>
            <a:r>
              <a:rPr sz="1950" b="0">
                <a:solidFill>
                  <a:srgbClr val="16324F"/>
                </a:solidFill>
              </a:rPr>
              <a:t>2. Remove stopwords and stem words</a:t>
            </a:r>
          </a:p>
          <a:p xmlns:a="http://schemas.openxmlformats.org/drawingml/2006/main">
            <a:r>
              <a:t/>
            </a:r>
          </a:p>
          <a:p xmlns:a="http://schemas.openxmlformats.org/drawingml/2006/main">
            <a:pPr>
              <a:defRPr sz="1950" b="0">
                <a:solidFill>
                  <a:srgbClr val="16324F"/>
                </a:solidFill>
              </a:defRPr>
            </a:pPr>
            <a:r>
              <a:rPr sz="1950" b="0">
                <a:solidFill>
                  <a:srgbClr val="16324F"/>
                </a:solidFill>
              </a:rPr>
              <a:t>3. Convert words into token IDs</a:t>
            </a:r>
          </a:p>
          <a:p xmlns:a="http://schemas.openxmlformats.org/drawingml/2006/main">
            <a:r>
              <a:t/>
            </a:r>
          </a:p>
          <a:p xmlns:a="http://schemas.openxmlformats.org/drawingml/2006/main">
            <a:pPr>
              <a:defRPr sz="1950" b="0">
                <a:solidFill>
                  <a:srgbClr val="16324F"/>
                </a:solidFill>
              </a:defRPr>
            </a:pPr>
            <a:r>
              <a:rPr sz="1950" b="0">
                <a:solidFill>
                  <a:srgbClr val="16324F"/>
                </a:solidFill>
              </a:rPr>
              <a:t>4. Pad or trim to 20 tokens</a:t>
            </a:r>
          </a:p>
        </p:txBody>
      </p:sp>
      <p:sp>
        <p:nvSpPr>
          <p:cNvPr id="9" name="">
            <a:extLst xmlns:a="http://schemas.openxmlformats.org/drawingml/2006/main">
              <a:ext uri="{FF2B5EF4-FFF2-40B4-BE49-F238E27FC236}">
                <a16:creationId xmlns:a16="http://schemas.microsoft.com/office/drawing/2014/main" id="{31659422-E102-4274-BA0D-C79DE2F5D536}"/>
              </a:ext>
            </a:extLst>
          </p:cNvPr>
          <p:cNvSpPr>
            <a:spLocks xmlns:a="http://schemas.openxmlformats.org/drawingml/2006/main" noGrp="1"/>
          </p:cNvSpPr>
          <p:nvPr/>
        </p:nvSpPr>
        <p:spPr>
          <a:xfrm xmlns:a="http://schemas.openxmlformats.org/drawingml/2006/main">
            <a:off x="6572250" y="544830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577"/>
                </a:solidFill>
              </a:defRPr>
            </a:defPPr>
          </a:lstStyle>
          <a:p xmlns:a="http://schemas.openxmlformats.org/drawingml/2006/main">
            <a:pPr>
              <a:defRPr sz="1875" b="0">
                <a:solidFill>
                  <a:srgbClr val="536577"/>
                </a:solidFill>
              </a:defRPr>
            </a:pPr>
            <a:r>
              <a:rPr sz="1875" b="0">
                <a:solidFill>
                  <a:srgbClr val="536577"/>
                </a:solidFill>
              </a:rPr>
              <a:t>The tokenizer learns only from training data.</a:t>
            </a:r>
          </a:p>
        </p:txBody>
      </p:sp>
    </p:spTree>
    <p:extLst>
      <p:ext uri="{BB962C8B-B14F-4D97-AF65-F5344CB8AC3E}">
        <p14:creationId xmlns:p14="http://schemas.microsoft.com/office/powerpoint/2010/main" val="13185675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CA12F13-AA70-4120-9486-971F3201BE17}"/>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Siamese MaLSTM Model</a:t>
            </a:r>
          </a:p>
        </p:txBody>
      </p:sp>
      <p:sp>
        <p:nvSpPr>
          <p:cNvPr id="2" name="">
            <a:extLst xmlns:a="http://schemas.openxmlformats.org/drawingml/2006/main">
              <a:ext uri="{FF2B5EF4-FFF2-40B4-BE49-F238E27FC236}">
                <a16:creationId xmlns:a16="http://schemas.microsoft.com/office/drawing/2014/main" id="{DEF08667-9686-4ED9-A1FF-D9195F29EB32}"/>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03</a:t>
            </a:r>
          </a:p>
        </p:txBody>
      </p:sp>
      <p:sp>
        <p:nvSpPr>
          <p:cNvPr id="3" name="">
            <a:extLst xmlns:a="http://schemas.openxmlformats.org/drawingml/2006/main">
              <a:ext uri="{FF2B5EF4-FFF2-40B4-BE49-F238E27FC236}">
                <a16:creationId xmlns:a16="http://schemas.microsoft.com/office/drawing/2014/main" id="{37B45C48-A869-44DA-80CD-445DEA000F22}"/>
              </a:ext>
            </a:extLst>
          </p:cNvPr>
          <p:cNvSpPr>
            <a:spLocks xmlns:a="http://schemas.openxmlformats.org/drawingml/2006/main" noGrp="1"/>
          </p:cNvSpPr>
          <p:nvPr/>
        </p:nvSpPr>
        <p:spPr>
          <a:xfrm xmlns:a="http://schemas.openxmlformats.org/drawingml/2006/main">
            <a:off x="762000" y="13811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463A6"/>
                </a:solidFill>
              </a:defRPr>
            </a:defPPr>
          </a:lstStyle>
          <a:p xmlns:a="http://schemas.openxmlformats.org/drawingml/2006/main">
            <a:pPr>
              <a:defRPr sz="2250" b="1">
                <a:solidFill>
                  <a:srgbClr val="2463A6"/>
                </a:solidFill>
              </a:defRPr>
            </a:pPr>
            <a:r>
              <a:rPr sz="2250" b="1">
                <a:solidFill>
                  <a:srgbClr val="2463A6"/>
                </a:solidFill>
              </a:rPr>
              <a:t>The same LSTM reads both questions</a:t>
            </a:r>
          </a:p>
        </p:txBody>
      </p:sp>
      <p:sp>
        <p:nvSpPr>
          <p:cNvPr id="4" name="">
            <a:extLst xmlns:a="http://schemas.openxmlformats.org/drawingml/2006/main">
              <a:ext uri="{FF2B5EF4-FFF2-40B4-BE49-F238E27FC236}">
                <a16:creationId xmlns:a16="http://schemas.microsoft.com/office/drawing/2014/main" id="{E6595B12-710C-49FE-BB86-39D4CB953546}"/>
              </a:ext>
            </a:extLst>
          </p:cNvPr>
          <p:cNvSpPr>
            <a:spLocks xmlns:a="http://schemas.openxmlformats.org/drawingml/2006/main" noGrp="1"/>
          </p:cNvSpPr>
          <p:nvPr/>
        </p:nvSpPr>
        <p:spPr>
          <a:xfrm xmlns:a="http://schemas.openxmlformats.org/drawingml/2006/main">
            <a:off x="762000" y="21907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324F"/>
                </a:solidFill>
              </a:defRPr>
            </a:defPPr>
          </a:lstStyle>
          <a:p xmlns:a="http://schemas.openxmlformats.org/drawingml/2006/main">
            <a:pPr>
              <a:defRPr sz="2025" b="1">
                <a:solidFill>
                  <a:srgbClr val="16324F"/>
                </a:solidFill>
              </a:defRPr>
            </a:pPr>
            <a:r>
              <a:rPr sz="2025" b="1">
                <a:solidFill>
                  <a:srgbClr val="16324F"/>
                </a:solidFill>
              </a:rPr>
              <a:t>1. Word embeddings</a:t>
            </a:r>
          </a:p>
        </p:txBody>
      </p:sp>
      <p:sp>
        <p:nvSpPr>
          <p:cNvPr id="5" name="">
            <a:extLst xmlns:a="http://schemas.openxmlformats.org/drawingml/2006/main">
              <a:ext uri="{FF2B5EF4-FFF2-40B4-BE49-F238E27FC236}">
                <a16:creationId xmlns:a16="http://schemas.microsoft.com/office/drawing/2014/main" id="{FDC55826-7F53-4402-AB43-3A8CADF9F941}"/>
              </a:ext>
            </a:extLst>
          </p:cNvPr>
          <p:cNvSpPr>
            <a:spLocks xmlns:a="http://schemas.openxmlformats.org/drawingml/2006/main" noGrp="1"/>
          </p:cNvSpPr>
          <p:nvPr/>
        </p:nvSpPr>
        <p:spPr>
          <a:xfrm xmlns:a="http://schemas.openxmlformats.org/drawingml/2006/main">
            <a:off x="4191000" y="2133600"/>
            <a:ext cx="723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Represent each word using 300 numbers.</a:t>
            </a:r>
          </a:p>
          <a:p xmlns:a="http://schemas.openxmlformats.org/drawingml/2006/main">
            <a:pPr>
              <a:defRPr sz="2025" b="0">
                <a:solidFill>
                  <a:srgbClr val="16324F"/>
                </a:solidFill>
              </a:defRPr>
            </a:pPr>
            <a:r>
              <a:rPr sz="2025" b="0">
                <a:solidFill>
                  <a:srgbClr val="16324F"/>
                </a:solidFill>
              </a:rPr>
              <a:t>Compare Google News, FastText, and Subword.</a:t>
            </a:r>
          </a:p>
        </p:txBody>
      </p:sp>
      <p:sp>
        <p:nvSpPr>
          <p:cNvPr id="6" name="">
            <a:extLst xmlns:a="http://schemas.openxmlformats.org/drawingml/2006/main">
              <a:ext uri="{FF2B5EF4-FFF2-40B4-BE49-F238E27FC236}">
                <a16:creationId xmlns:a16="http://schemas.microsoft.com/office/drawing/2014/main" id="{0F79AEBB-125A-429D-80B6-33F13095DCD8}"/>
              </a:ext>
            </a:extLst>
          </p:cNvPr>
          <p:cNvSpPr>
            <a:spLocks xmlns:a="http://schemas.openxmlformats.org/drawingml/2006/main" noGrp="1"/>
          </p:cNvSpPr>
          <p:nvPr/>
        </p:nvSpPr>
        <p:spPr>
          <a:xfrm xmlns:a="http://schemas.openxmlformats.org/drawingml/2006/main">
            <a:off x="762000" y="338137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324F"/>
                </a:solidFill>
              </a:defRPr>
            </a:defPPr>
          </a:lstStyle>
          <a:p xmlns:a="http://schemas.openxmlformats.org/drawingml/2006/main">
            <a:pPr>
              <a:defRPr sz="2025" b="1">
                <a:solidFill>
                  <a:srgbClr val="16324F"/>
                </a:solidFill>
              </a:defRPr>
            </a:pPr>
            <a:r>
              <a:rPr sz="2025" b="1">
                <a:solidFill>
                  <a:srgbClr val="16324F"/>
                </a:solidFill>
              </a:rPr>
              <a:t>2. Shared LSTM</a:t>
            </a:r>
          </a:p>
        </p:txBody>
      </p:sp>
      <p:sp>
        <p:nvSpPr>
          <p:cNvPr id="7" name="">
            <a:extLst xmlns:a="http://schemas.openxmlformats.org/drawingml/2006/main">
              <a:ext uri="{FF2B5EF4-FFF2-40B4-BE49-F238E27FC236}">
                <a16:creationId xmlns:a16="http://schemas.microsoft.com/office/drawing/2014/main" id="{4CA5A931-88F1-4925-9C2E-D3EFC2B1EB7C}"/>
              </a:ext>
            </a:extLst>
          </p:cNvPr>
          <p:cNvSpPr>
            <a:spLocks xmlns:a="http://schemas.openxmlformats.org/drawingml/2006/main" noGrp="1"/>
          </p:cNvSpPr>
          <p:nvPr/>
        </p:nvSpPr>
        <p:spPr>
          <a:xfrm xmlns:a="http://schemas.openxmlformats.org/drawingml/2006/main">
            <a:off x="4191000" y="3324225"/>
            <a:ext cx="723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Use the same 50-unit LSTM to create</a:t>
            </a:r>
          </a:p>
          <a:p xmlns:a="http://schemas.openxmlformats.org/drawingml/2006/main">
            <a:pPr>
              <a:defRPr sz="2025" b="0">
                <a:solidFill>
                  <a:srgbClr val="16324F"/>
                </a:solidFill>
              </a:defRPr>
            </a:pPr>
            <a:r>
              <a:rPr sz="2025" b="0">
                <a:solidFill>
                  <a:srgbClr val="16324F"/>
                </a:solidFill>
              </a:rPr>
              <a:t>a meaning vector for each question.</a:t>
            </a:r>
          </a:p>
        </p:txBody>
      </p:sp>
      <p:sp>
        <p:nvSpPr>
          <p:cNvPr id="8" name="">
            <a:extLst xmlns:a="http://schemas.openxmlformats.org/drawingml/2006/main">
              <a:ext uri="{FF2B5EF4-FFF2-40B4-BE49-F238E27FC236}">
                <a16:creationId xmlns:a16="http://schemas.microsoft.com/office/drawing/2014/main" id="{56FDD630-74F4-4A1B-AE0A-650B30787A13}"/>
              </a:ext>
            </a:extLst>
          </p:cNvPr>
          <p:cNvSpPr>
            <a:spLocks xmlns:a="http://schemas.openxmlformats.org/drawingml/2006/main" noGrp="1"/>
          </p:cNvSpPr>
          <p:nvPr/>
        </p:nvSpPr>
        <p:spPr>
          <a:xfrm xmlns:a="http://schemas.openxmlformats.org/drawingml/2006/main">
            <a:off x="762000" y="457200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324F"/>
                </a:solidFill>
              </a:defRPr>
            </a:defPPr>
          </a:lstStyle>
          <a:p xmlns:a="http://schemas.openxmlformats.org/drawingml/2006/main">
            <a:pPr>
              <a:defRPr sz="2025" b="1">
                <a:solidFill>
                  <a:srgbClr val="16324F"/>
                </a:solidFill>
              </a:defRPr>
            </a:pPr>
            <a:r>
              <a:rPr sz="2025" b="1">
                <a:solidFill>
                  <a:srgbClr val="16324F"/>
                </a:solidFill>
              </a:rPr>
              <a:t>3. Similarity score</a:t>
            </a:r>
          </a:p>
        </p:txBody>
      </p:sp>
      <p:sp>
        <p:nvSpPr>
          <p:cNvPr id="9" name="">
            <a:extLst xmlns:a="http://schemas.openxmlformats.org/drawingml/2006/main">
              <a:ext uri="{FF2B5EF4-FFF2-40B4-BE49-F238E27FC236}">
                <a16:creationId xmlns:a16="http://schemas.microsoft.com/office/drawing/2014/main" id="{9B3BEFAD-6D45-4D08-A20C-E2E8918B7A1E}"/>
              </a:ext>
            </a:extLst>
          </p:cNvPr>
          <p:cNvSpPr>
            <a:spLocks xmlns:a="http://schemas.openxmlformats.org/drawingml/2006/main" noGrp="1"/>
          </p:cNvSpPr>
          <p:nvPr/>
        </p:nvSpPr>
        <p:spPr>
          <a:xfrm xmlns:a="http://schemas.openxmlformats.org/drawingml/2006/main">
            <a:off x="4191000" y="4514850"/>
            <a:ext cx="723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Compute exp(−sum(|h1 − h2|)).</a:t>
            </a:r>
          </a:p>
          <a:p xmlns:a="http://schemas.openxmlformats.org/drawingml/2006/main">
            <a:pPr>
              <a:defRPr sz="2025" b="0">
                <a:solidFill>
                  <a:srgbClr val="16324F"/>
                </a:solidFill>
              </a:defRPr>
            </a:pPr>
            <a:r>
              <a:rPr sz="2025" b="0">
                <a:solidFill>
                  <a:srgbClr val="16324F"/>
                </a:solidFill>
              </a:rPr>
              <a:t>Predict duplicate when the score exceeds 0.5.</a:t>
            </a:r>
          </a:p>
        </p:txBody>
      </p:sp>
      <p:sp>
        <p:nvSpPr>
          <p:cNvPr id="10" name="">
            <a:extLst xmlns:a="http://schemas.openxmlformats.org/drawingml/2006/main">
              <a:ext uri="{FF2B5EF4-FFF2-40B4-BE49-F238E27FC236}">
                <a16:creationId xmlns:a16="http://schemas.microsoft.com/office/drawing/2014/main" id="{953D55F8-0F84-4CDB-B909-B83C6132DCE3}"/>
              </a:ext>
            </a:extLst>
          </p:cNvPr>
          <p:cNvSpPr>
            <a:spLocks xmlns:a="http://schemas.openxmlformats.org/drawingml/2006/main" noGrp="1"/>
          </p:cNvSpPr>
          <p:nvPr/>
        </p:nvSpPr>
        <p:spPr>
          <a:xfrm xmlns:a="http://schemas.openxmlformats.org/drawingml/2006/main">
            <a:off x="762000" y="58674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577"/>
                </a:solidFill>
              </a:defRPr>
            </a:defPPr>
          </a:lstStyle>
          <a:p xmlns:a="http://schemas.openxmlformats.org/drawingml/2006/main">
            <a:pPr>
              <a:defRPr sz="1800" b="0">
                <a:solidFill>
                  <a:srgbClr val="536577"/>
                </a:solidFill>
              </a:defRPr>
            </a:pPr>
            <a:r>
              <a:rPr sz="1800" b="0">
                <a:solidFill>
                  <a:srgbClr val="536577"/>
                </a:solidFill>
              </a:rPr>
              <a:t>Training: Adam (0.001), binary cross-entropy, batch size 64, 30 epochs</a:t>
            </a:r>
          </a:p>
        </p:txBody>
      </p:sp>
    </p:spTree>
    <p:extLst>
      <p:ext uri="{BB962C8B-B14F-4D97-AF65-F5344CB8AC3E}">
        <p14:creationId xmlns:p14="http://schemas.microsoft.com/office/powerpoint/2010/main" val="1123160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178F5A-086A-47CD-AFCE-260D0B7E2758}"/>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Results and Evaluation</a:t>
            </a:r>
          </a:p>
        </p:txBody>
      </p:sp>
      <p:sp>
        <p:nvSpPr>
          <p:cNvPr id="2" name="">
            <a:extLst xmlns:a="http://schemas.openxmlformats.org/drawingml/2006/main">
              <a:ext uri="{FF2B5EF4-FFF2-40B4-BE49-F238E27FC236}">
                <a16:creationId xmlns:a16="http://schemas.microsoft.com/office/drawing/2014/main" id="{23884657-CB26-45C6-B732-7E69ACD2CF0D}"/>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04</a:t>
            </a:r>
          </a:p>
        </p:txBody>
      </p:sp>
      <p:sp>
        <p:nvSpPr>
          <p:cNvPr id="3" name="">
            <a:extLst xmlns:a="http://schemas.openxmlformats.org/drawingml/2006/main">
              <a:ext uri="{FF2B5EF4-FFF2-40B4-BE49-F238E27FC236}">
                <a16:creationId xmlns:a16="http://schemas.microsoft.com/office/drawing/2014/main" id="{32669933-26E7-4338-80CF-FABD09DDDC0D}"/>
              </a:ext>
            </a:extLst>
          </p:cNvPr>
          <p:cNvSpPr>
            <a:spLocks xmlns:a="http://schemas.openxmlformats.org/drawingml/2006/main" noGrp="1"/>
          </p:cNvSpPr>
          <p:nvPr/>
        </p:nvSpPr>
        <p:spPr>
          <a:xfrm xmlns:a="http://schemas.openxmlformats.org/drawingml/2006/main">
            <a:off x="762000" y="1333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Original models: test metrics (%)</a:t>
            </a:r>
          </a:p>
        </p:txBody>
      </p:sp>
      <p:graphicFrame>
        <p:nvGraphicFramePr>
          <p:cNvPr id="4" name="">
            <a:extLst xmlns:a="http://schemas.openxmlformats.org/drawingml/2006/main">
              <a:ext uri="{FF2B5EF4-FFF2-40B4-BE49-F238E27FC236}">
                <a16:creationId xmlns:a16="http://schemas.microsoft.com/office/drawing/2014/main" id="{B069A440-8831-4882-B4E6-92EA87C52E30}"/>
              </a:ext>
            </a:extLst>
          </p:cNvPr>
          <p:cNvGraphicFramePr/>
          <p:nvPr/>
        </p:nvGraphicFramePr>
        <p:xfrm>
          <a:off xmlns:a="http://schemas.openxmlformats.org/drawingml/2006/main" x="762000" y="1924050"/>
          <a:ext xmlns:a="http://schemas.openxmlformats.org/drawingml/2006/main" cx="10668000" cy="2476500"/>
        </p:xfrm>
        <a:graphic xmlns:a="http://schemas.openxmlformats.org/drawingml/2006/main">
          <a:graphicData uri="http://schemas.openxmlformats.org/drawingml/2006/table">
            <a:tbl>
              <a:tblPr/>
              <a:tblGrid>
                <a:gridCol w="2952750"/>
                <a:gridCol w="1543050"/>
                <a:gridCol w="1543050"/>
                <a:gridCol w="1543050"/>
                <a:gridCol w="1543050"/>
                <a:gridCol w="1543050"/>
              </a:tblGrid>
              <a:tr h="495300">
                <a:tc>
                  <a:txBody>
                    <a:bodyPr/>
                    <a:lstStyle/>
                    <a:p>
                      <a:pPr algn="l"/>
                      <a:r>
                        <a:rPr sz="1800" b="1">
                          <a:solidFill>
                            <a:srgbClr val="FFFFFF"/>
                          </a:solidFill>
                        </a:rPr>
                        <a:t>Model</a:t>
                      </a:r>
                    </a:p>
                  </a:txBody>
                  <a:tcPr marL="133350" marR="95250" marT="95250" marB="95250" anchor="ctr">
                    <a:solidFill>
                      <a:srgbClr val="16324F"/>
                    </a:solidFill>
                  </a:tcPr>
                </a:tc>
                <a:tc>
                  <a:txBody>
                    <a:bodyPr/>
                    <a:lstStyle/>
                    <a:p>
                      <a:pPr algn="ctr"/>
                      <a:r>
                        <a:rPr sz="1800" b="1">
                          <a:solidFill>
                            <a:srgbClr val="FFFFFF"/>
                          </a:solidFill>
                        </a:rPr>
                        <a:t>Accuracy</a:t>
                      </a:r>
                    </a:p>
                  </a:txBody>
                  <a:tcPr marL="133350" marR="95250" marT="95250" marB="95250" anchor="ctr">
                    <a:solidFill>
                      <a:srgbClr val="16324F"/>
                    </a:solidFill>
                  </a:tcPr>
                </a:tc>
                <a:tc>
                  <a:txBody>
                    <a:bodyPr/>
                    <a:lstStyle/>
                    <a:p>
                      <a:pPr algn="ctr"/>
                      <a:r>
                        <a:rPr sz="1800" b="1">
                          <a:solidFill>
                            <a:srgbClr val="FFFFFF"/>
                          </a:solidFill>
                        </a:rPr>
                        <a:t>Precision</a:t>
                      </a:r>
                    </a:p>
                  </a:txBody>
                  <a:tcPr marL="133350" marR="95250" marT="95250" marB="95250" anchor="ctr">
                    <a:solidFill>
                      <a:srgbClr val="16324F"/>
                    </a:solidFill>
                  </a:tcPr>
                </a:tc>
                <a:tc>
                  <a:txBody>
                    <a:bodyPr/>
                    <a:lstStyle/>
                    <a:p>
                      <a:pPr algn="ctr"/>
                      <a:r>
                        <a:rPr sz="1800" b="1">
                          <a:solidFill>
                            <a:srgbClr val="FFFFFF"/>
                          </a:solidFill>
                        </a:rPr>
                        <a:t>Recall</a:t>
                      </a:r>
                    </a:p>
                  </a:txBody>
                  <a:tcPr marL="133350" marR="95250" marT="95250" marB="95250" anchor="ctr">
                    <a:solidFill>
                      <a:srgbClr val="16324F"/>
                    </a:solidFill>
                  </a:tcPr>
                </a:tc>
                <a:tc>
                  <a:txBody>
                    <a:bodyPr/>
                    <a:lstStyle/>
                    <a:p>
                      <a:pPr algn="ctr"/>
                      <a:r>
                        <a:rPr sz="1800" b="1">
                          <a:solidFill>
                            <a:srgbClr val="FFFFFF"/>
                          </a:solidFill>
                        </a:rPr>
                        <a:t>F1</a:t>
                      </a:r>
                    </a:p>
                  </a:txBody>
                  <a:tcPr marL="133350" marR="95250" marT="95250" marB="95250" anchor="ctr">
                    <a:solidFill>
                      <a:srgbClr val="16324F"/>
                    </a:solidFill>
                  </a:tcPr>
                </a:tc>
                <a:tc>
                  <a:txBody>
                    <a:bodyPr/>
                    <a:lstStyle/>
                    <a:p>
                      <a:pPr algn="ctr"/>
                      <a:r>
                        <a:rPr sz="1800" b="1">
                          <a:solidFill>
                            <a:srgbClr val="FFFFFF"/>
                          </a:solidFill>
                        </a:rPr>
                        <a:t>Paper acc.</a:t>
                      </a:r>
                    </a:p>
                  </a:txBody>
                  <a:tcPr marL="133350" marR="95250" marT="95250" marB="95250" anchor="ctr">
                    <a:solidFill>
                      <a:srgbClr val="16324F"/>
                    </a:solidFill>
                  </a:tcPr>
                </a:tc>
              </a:tr>
              <a:tr h="495300">
                <a:tc>
                  <a:txBody>
                    <a:bodyPr/>
                    <a:lstStyle/>
                    <a:p>
                      <a:pPr algn="l"/>
                      <a:r>
                        <a:rPr sz="1800" b="0">
                          <a:solidFill>
                            <a:srgbClr val="16324F"/>
                          </a:solidFill>
                        </a:rPr>
                        <a:t>Google News</a:t>
                      </a:r>
                    </a:p>
                  </a:txBody>
                  <a:tcPr marL="133350" marR="95250" marT="95250" marB="95250" anchor="ctr">
                    <a:solidFill>
                      <a:srgbClr val="F0F5FA"/>
                    </a:solidFill>
                  </a:tcPr>
                </a:tc>
                <a:tc>
                  <a:txBody>
                    <a:bodyPr/>
                    <a:lstStyle/>
                    <a:p>
                      <a:pPr algn="ctr"/>
                      <a:r>
                        <a:rPr sz="1800" b="0">
                          <a:solidFill>
                            <a:srgbClr val="16324F"/>
                          </a:solidFill>
                        </a:rPr>
                        <a:t>81.11</a:t>
                      </a:r>
                    </a:p>
                  </a:txBody>
                  <a:tcPr marL="133350" marR="95250" marT="95250" marB="95250" anchor="ctr">
                    <a:solidFill>
                      <a:srgbClr val="F0F5FA"/>
                    </a:solidFill>
                  </a:tcPr>
                </a:tc>
                <a:tc>
                  <a:txBody>
                    <a:bodyPr/>
                    <a:lstStyle/>
                    <a:p>
                      <a:pPr algn="ctr"/>
                      <a:r>
                        <a:rPr sz="1800" b="0">
                          <a:solidFill>
                            <a:srgbClr val="16324F"/>
                          </a:solidFill>
                        </a:rPr>
                        <a:t>77.12</a:t>
                      </a:r>
                    </a:p>
                  </a:txBody>
                  <a:tcPr marL="133350" marR="95250" marT="95250" marB="95250" anchor="ctr">
                    <a:solidFill>
                      <a:srgbClr val="F0F5FA"/>
                    </a:solidFill>
                  </a:tcPr>
                </a:tc>
                <a:tc>
                  <a:txBody>
                    <a:bodyPr/>
                    <a:lstStyle/>
                    <a:p>
                      <a:pPr algn="ctr"/>
                      <a:r>
                        <a:rPr sz="1800" b="0">
                          <a:solidFill>
                            <a:srgbClr val="16324F"/>
                          </a:solidFill>
                        </a:rPr>
                        <a:t>69.45</a:t>
                      </a:r>
                    </a:p>
                  </a:txBody>
                  <a:tcPr marL="133350" marR="95250" marT="95250" marB="95250" anchor="ctr">
                    <a:solidFill>
                      <a:srgbClr val="F0F5FA"/>
                    </a:solidFill>
                  </a:tcPr>
                </a:tc>
                <a:tc>
                  <a:txBody>
                    <a:bodyPr/>
                    <a:lstStyle/>
                    <a:p>
                      <a:pPr algn="ctr"/>
                      <a:r>
                        <a:rPr sz="1800" b="0">
                          <a:solidFill>
                            <a:srgbClr val="16324F"/>
                          </a:solidFill>
                        </a:rPr>
                        <a:t>73.08</a:t>
                      </a:r>
                    </a:p>
                  </a:txBody>
                  <a:tcPr marL="133350" marR="95250" marT="95250" marB="95250" anchor="ctr">
                    <a:solidFill>
                      <a:srgbClr val="F0F5FA"/>
                    </a:solidFill>
                  </a:tcPr>
                </a:tc>
                <a:tc>
                  <a:txBody>
                    <a:bodyPr/>
                    <a:lstStyle/>
                    <a:p>
                      <a:pPr algn="ctr"/>
                      <a:r>
                        <a:rPr sz="1800" b="0">
                          <a:solidFill>
                            <a:srgbClr val="16324F"/>
                          </a:solidFill>
                        </a:rPr>
                        <a:t>81.77</a:t>
                      </a:r>
                    </a:p>
                  </a:txBody>
                  <a:tcPr marL="133350" marR="95250" marT="95250" marB="95250" anchor="ctr">
                    <a:solidFill>
                      <a:srgbClr val="F0F5FA"/>
                    </a:solidFill>
                  </a:tcPr>
                </a:tc>
              </a:tr>
              <a:tr h="495300">
                <a:tc>
                  <a:txBody>
                    <a:bodyPr/>
                    <a:lstStyle/>
                    <a:p>
                      <a:pPr algn="l"/>
                      <a:r>
                        <a:rPr sz="1800" b="0">
                          <a:solidFill>
                            <a:srgbClr val="16324F"/>
                          </a:solidFill>
                        </a:rPr>
                        <a:t>FastText</a:t>
                      </a:r>
                    </a:p>
                  </a:txBody>
                  <a:tcPr marL="133350" marR="95250" marT="95250" marB="95250" anchor="ctr">
                    <a:solidFill>
                      <a:srgbClr val="FFFFFF"/>
                    </a:solidFill>
                  </a:tcPr>
                </a:tc>
                <a:tc>
                  <a:txBody>
                    <a:bodyPr/>
                    <a:lstStyle/>
                    <a:p>
                      <a:pPr algn="ctr"/>
                      <a:r>
                        <a:rPr sz="1800" b="0">
                          <a:solidFill>
                            <a:srgbClr val="16324F"/>
                          </a:solidFill>
                        </a:rPr>
                        <a:t>81.59</a:t>
                      </a:r>
                    </a:p>
                  </a:txBody>
                  <a:tcPr marL="133350" marR="95250" marT="95250" marB="95250" anchor="ctr">
                    <a:solidFill>
                      <a:srgbClr val="FFFFFF"/>
                    </a:solidFill>
                  </a:tcPr>
                </a:tc>
                <a:tc>
                  <a:txBody>
                    <a:bodyPr/>
                    <a:lstStyle/>
                    <a:p>
                      <a:pPr algn="ctr"/>
                      <a:r>
                        <a:rPr sz="1800" b="0">
                          <a:solidFill>
                            <a:srgbClr val="16324F"/>
                          </a:solidFill>
                        </a:rPr>
                        <a:t>77.08</a:t>
                      </a:r>
                    </a:p>
                  </a:txBody>
                  <a:tcPr marL="133350" marR="95250" marT="95250" marB="95250" anchor="ctr">
                    <a:solidFill>
                      <a:srgbClr val="FFFFFF"/>
                    </a:solidFill>
                  </a:tcPr>
                </a:tc>
                <a:tc>
                  <a:txBody>
                    <a:bodyPr/>
                    <a:lstStyle/>
                    <a:p>
                      <a:pPr algn="ctr"/>
                      <a:r>
                        <a:rPr sz="1800" b="0">
                          <a:solidFill>
                            <a:srgbClr val="16324F"/>
                          </a:solidFill>
                        </a:rPr>
                        <a:t>71.35</a:t>
                      </a:r>
                    </a:p>
                  </a:txBody>
                  <a:tcPr marL="133350" marR="95250" marT="95250" marB="95250" anchor="ctr">
                    <a:solidFill>
                      <a:srgbClr val="FFFFFF"/>
                    </a:solidFill>
                  </a:tcPr>
                </a:tc>
                <a:tc>
                  <a:txBody>
                    <a:bodyPr/>
                    <a:lstStyle/>
                    <a:p>
                      <a:pPr algn="ctr"/>
                      <a:r>
                        <a:rPr sz="1800" b="0">
                          <a:solidFill>
                            <a:srgbClr val="16324F"/>
                          </a:solidFill>
                        </a:rPr>
                        <a:t>74.11</a:t>
                      </a:r>
                    </a:p>
                  </a:txBody>
                  <a:tcPr marL="133350" marR="95250" marT="95250" marB="95250" anchor="ctr">
                    <a:solidFill>
                      <a:srgbClr val="FFFFFF"/>
                    </a:solidFill>
                  </a:tcPr>
                </a:tc>
                <a:tc>
                  <a:txBody>
                    <a:bodyPr/>
                    <a:lstStyle/>
                    <a:p>
                      <a:pPr algn="ctr"/>
                      <a:r>
                        <a:rPr sz="1800" b="0">
                          <a:solidFill>
                            <a:srgbClr val="16324F"/>
                          </a:solidFill>
                        </a:rPr>
                        <a:t>82.77</a:t>
                      </a:r>
                    </a:p>
                  </a:txBody>
                  <a:tcPr marL="133350" marR="95250" marT="95250" marB="95250" anchor="ctr">
                    <a:solidFill>
                      <a:srgbClr val="FFFFFF"/>
                    </a:solidFill>
                  </a:tcPr>
                </a:tc>
              </a:tr>
              <a:tr h="495300">
                <a:tc>
                  <a:txBody>
                    <a:bodyPr/>
                    <a:lstStyle/>
                    <a:p>
                      <a:pPr algn="l"/>
                      <a:r>
                        <a:rPr sz="1800" b="0">
                          <a:solidFill>
                            <a:srgbClr val="16324F"/>
                          </a:solidFill>
                        </a:rPr>
                        <a:t>Subword</a:t>
                      </a:r>
                    </a:p>
                  </a:txBody>
                  <a:tcPr marL="133350" marR="95250" marT="95250" marB="95250" anchor="ctr">
                    <a:solidFill>
                      <a:srgbClr val="F0F5FA"/>
                    </a:solidFill>
                  </a:tcPr>
                </a:tc>
                <a:tc>
                  <a:txBody>
                    <a:bodyPr/>
                    <a:lstStyle/>
                    <a:p>
                      <a:pPr algn="ctr"/>
                      <a:r>
                        <a:rPr sz="1800" b="0">
                          <a:solidFill>
                            <a:srgbClr val="16324F"/>
                          </a:solidFill>
                        </a:rPr>
                        <a:t>80.31</a:t>
                      </a:r>
                    </a:p>
                  </a:txBody>
                  <a:tcPr marL="133350" marR="95250" marT="95250" marB="95250" anchor="ctr">
                    <a:solidFill>
                      <a:srgbClr val="F0F5FA"/>
                    </a:solidFill>
                  </a:tcPr>
                </a:tc>
                <a:tc>
                  <a:txBody>
                    <a:bodyPr/>
                    <a:lstStyle/>
                    <a:p>
                      <a:pPr algn="ctr"/>
                      <a:r>
                        <a:rPr sz="1800" b="0">
                          <a:solidFill>
                            <a:srgbClr val="16324F"/>
                          </a:solidFill>
                        </a:rPr>
                        <a:t>76.72</a:t>
                      </a:r>
                    </a:p>
                  </a:txBody>
                  <a:tcPr marL="133350" marR="95250" marT="95250" marB="95250" anchor="ctr">
                    <a:solidFill>
                      <a:srgbClr val="F0F5FA"/>
                    </a:solidFill>
                  </a:tcPr>
                </a:tc>
                <a:tc>
                  <a:txBody>
                    <a:bodyPr/>
                    <a:lstStyle/>
                    <a:p>
                      <a:pPr algn="ctr"/>
                      <a:r>
                        <a:rPr sz="1800" b="0">
                          <a:solidFill>
                            <a:srgbClr val="16324F"/>
                          </a:solidFill>
                        </a:rPr>
                        <a:t>67.01</a:t>
                      </a:r>
                    </a:p>
                  </a:txBody>
                  <a:tcPr marL="133350" marR="95250" marT="95250" marB="95250" anchor="ctr">
                    <a:solidFill>
                      <a:srgbClr val="F0F5FA"/>
                    </a:solidFill>
                  </a:tcPr>
                </a:tc>
                <a:tc>
                  <a:txBody>
                    <a:bodyPr/>
                    <a:lstStyle/>
                    <a:p>
                      <a:pPr algn="ctr"/>
                      <a:r>
                        <a:rPr sz="1800" b="0">
                          <a:solidFill>
                            <a:srgbClr val="16324F"/>
                          </a:solidFill>
                        </a:rPr>
                        <a:t>71.54</a:t>
                      </a:r>
                    </a:p>
                  </a:txBody>
                  <a:tcPr marL="133350" marR="95250" marT="95250" marB="95250" anchor="ctr">
                    <a:solidFill>
                      <a:srgbClr val="F0F5FA"/>
                    </a:solidFill>
                  </a:tcPr>
                </a:tc>
                <a:tc>
                  <a:txBody>
                    <a:bodyPr/>
                    <a:lstStyle/>
                    <a:p>
                      <a:pPr algn="ctr"/>
                      <a:r>
                        <a:rPr sz="1800" b="0">
                          <a:solidFill>
                            <a:srgbClr val="16324F"/>
                          </a:solidFill>
                        </a:rPr>
                        <a:t>82.57</a:t>
                      </a:r>
                    </a:p>
                  </a:txBody>
                  <a:tcPr marL="133350" marR="95250" marT="95250" marB="95250" anchor="ctr">
                    <a:solidFill>
                      <a:srgbClr val="F0F5FA"/>
                    </a:solidFill>
                  </a:tcPr>
                </a:tc>
              </a:tr>
              <a:tr h="495300">
                <a:tc>
                  <a:txBody>
                    <a:bodyPr/>
                    <a:lstStyle/>
                    <a:p>
                      <a:pPr algn="l"/>
                      <a:r>
                        <a:rPr sz="1800" b="0">
                          <a:solidFill>
                            <a:srgbClr val="16324F"/>
                          </a:solidFill>
                        </a:rPr>
                        <a:t>Original blend</a:t>
                      </a:r>
                    </a:p>
                  </a:txBody>
                  <a:tcPr marL="133350" marR="95250" marT="95250" marB="95250" anchor="ctr">
                    <a:solidFill>
                      <a:srgbClr val="FFFFFF"/>
                    </a:solidFill>
                  </a:tcPr>
                </a:tc>
                <a:tc>
                  <a:txBody>
                    <a:bodyPr/>
                    <a:lstStyle/>
                    <a:p>
                      <a:pPr algn="ctr"/>
                      <a:r>
                        <a:rPr sz="1800" b="0">
                          <a:solidFill>
                            <a:srgbClr val="16324F"/>
                          </a:solidFill>
                        </a:rPr>
                        <a:t>81.81</a:t>
                      </a:r>
                    </a:p>
                  </a:txBody>
                  <a:tcPr marL="133350" marR="95250" marT="95250" marB="95250" anchor="ctr">
                    <a:solidFill>
                      <a:srgbClr val="FFFFFF"/>
                    </a:solidFill>
                  </a:tcPr>
                </a:tc>
                <a:tc>
                  <a:txBody>
                    <a:bodyPr/>
                    <a:lstStyle/>
                    <a:p>
                      <a:pPr algn="ctr"/>
                      <a:r>
                        <a:rPr sz="1800" b="0">
                          <a:solidFill>
                            <a:srgbClr val="16324F"/>
                          </a:solidFill>
                        </a:rPr>
                        <a:t>78.97</a:t>
                      </a:r>
                    </a:p>
                  </a:txBody>
                  <a:tcPr marL="133350" marR="95250" marT="95250" marB="95250" anchor="ctr">
                    <a:solidFill>
                      <a:srgbClr val="FFFFFF"/>
                    </a:solidFill>
                  </a:tcPr>
                </a:tc>
                <a:tc>
                  <a:txBody>
                    <a:bodyPr/>
                    <a:lstStyle/>
                    <a:p>
                      <a:pPr algn="ctr"/>
                      <a:r>
                        <a:rPr sz="1800" b="0">
                          <a:solidFill>
                            <a:srgbClr val="16324F"/>
                          </a:solidFill>
                        </a:rPr>
                        <a:t>69.16</a:t>
                      </a:r>
                    </a:p>
                  </a:txBody>
                  <a:tcPr marL="133350" marR="95250" marT="95250" marB="95250" anchor="ctr">
                    <a:solidFill>
                      <a:srgbClr val="FFFFFF"/>
                    </a:solidFill>
                  </a:tcPr>
                </a:tc>
                <a:tc>
                  <a:txBody>
                    <a:bodyPr/>
                    <a:lstStyle/>
                    <a:p>
                      <a:pPr algn="ctr"/>
                      <a:r>
                        <a:rPr sz="1800" b="0">
                          <a:solidFill>
                            <a:srgbClr val="16324F"/>
                          </a:solidFill>
                        </a:rPr>
                        <a:t>73.74</a:t>
                      </a:r>
                    </a:p>
                  </a:txBody>
                  <a:tcPr marL="133350" marR="95250" marT="95250" marB="95250" anchor="ctr">
                    <a:solidFill>
                      <a:srgbClr val="FFFFFF"/>
                    </a:solidFill>
                  </a:tcPr>
                </a:tc>
                <a:tc>
                  <a:txBody>
                    <a:bodyPr/>
                    <a:lstStyle/>
                    <a:p>
                      <a:pPr algn="ctr"/>
                      <a:r>
                        <a:rPr sz="1800" b="0">
                          <a:solidFill>
                            <a:srgbClr val="16324F"/>
                          </a:solidFill>
                        </a:rPr>
                        <a:t>91.14</a:t>
                      </a:r>
                    </a:p>
                  </a:txBody>
                  <a:tcPr marL="133350" marR="952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CF1431-9489-4CE0-A35B-CD54D93C60BE}"/>
              </a:ext>
            </a:extLst>
          </p:cNvPr>
          <p:cNvSpPr>
            <a:spLocks xmlns:a="http://schemas.openxmlformats.org/drawingml/2006/main" noGrp="1"/>
          </p:cNvSpPr>
          <p:nvPr/>
        </p:nvSpPr>
        <p:spPr>
          <a:xfrm xmlns:a="http://schemas.openxmlformats.org/drawingml/2006/main">
            <a:off x="762000" y="4800600"/>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463A6"/>
                </a:solidFill>
              </a:defRPr>
            </a:defPPr>
          </a:lstStyle>
          <a:p xmlns:a="http://schemas.openxmlformats.org/drawingml/2006/main">
            <a:pPr>
              <a:defRPr sz="1950" b="1">
                <a:solidFill>
                  <a:srgbClr val="2463A6"/>
                </a:solidFill>
              </a:defRPr>
            </a:pPr>
            <a:r>
              <a:rPr sz="1950" b="1">
                <a:solidFill>
                  <a:srgbClr val="2463A6"/>
                </a:solidFill>
              </a:rPr>
              <a:t>Confusion matrix: original blend</a:t>
            </a:r>
          </a:p>
        </p:txBody>
      </p:sp>
      <p:sp>
        <p:nvSpPr>
          <p:cNvPr id="6" name="">
            <a:extLst xmlns:a="http://schemas.openxmlformats.org/drawingml/2006/main">
              <a:ext uri="{FF2B5EF4-FFF2-40B4-BE49-F238E27FC236}">
                <a16:creationId xmlns:a16="http://schemas.microsoft.com/office/drawing/2014/main" id="{34046643-5403-449F-874D-E7DC4B7CB347}"/>
              </a:ext>
            </a:extLst>
          </p:cNvPr>
          <p:cNvSpPr>
            <a:spLocks xmlns:a="http://schemas.openxmlformats.org/drawingml/2006/main" noGrp="1"/>
          </p:cNvSpPr>
          <p:nvPr/>
        </p:nvSpPr>
        <p:spPr>
          <a:xfrm xmlns:a="http://schemas.openxmlformats.org/drawingml/2006/main">
            <a:off x="762000" y="52578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324F"/>
                </a:solidFill>
              </a:defRPr>
            </a:defPPr>
          </a:lstStyle>
          <a:p xmlns:a="http://schemas.openxmlformats.org/drawingml/2006/main">
            <a:pPr>
              <a:defRPr sz="1875" b="0">
                <a:solidFill>
                  <a:srgbClr val="16324F"/>
                </a:solidFill>
              </a:defRPr>
            </a:pPr>
            <a:r>
              <a:rPr sz="1875" b="0">
                <a:solidFill>
                  <a:srgbClr val="16324F"/>
                </a:solidFill>
              </a:rPr>
              <a:t>Correct: 82,691 of 101,073</a:t>
            </a:r>
          </a:p>
          <a:p xmlns:a="http://schemas.openxmlformats.org/drawingml/2006/main">
            <a:pPr>
              <a:defRPr sz="1875" b="0">
                <a:solidFill>
                  <a:srgbClr val="16324F"/>
                </a:solidFill>
              </a:defRPr>
            </a:pPr>
            <a:r>
              <a:rPr sz="1875" b="0">
                <a:solidFill>
                  <a:srgbClr val="16324F"/>
                </a:solidFill>
              </a:rPr>
              <a:t>False positives: 6,874</a:t>
            </a:r>
          </a:p>
          <a:p xmlns:a="http://schemas.openxmlformats.org/drawingml/2006/main">
            <a:pPr>
              <a:defRPr sz="1875" b="0">
                <a:solidFill>
                  <a:srgbClr val="16324F"/>
                </a:solidFill>
              </a:defRPr>
            </a:pPr>
            <a:r>
              <a:rPr sz="1875" b="0">
                <a:solidFill>
                  <a:srgbClr val="16324F"/>
                </a:solidFill>
              </a:rPr>
              <a:t>Missed duplicates: 11,508</a:t>
            </a:r>
          </a:p>
        </p:txBody>
      </p:sp>
      <p:sp>
        <p:nvSpPr>
          <p:cNvPr id="7" name="">
            <a:extLst xmlns:a="http://schemas.openxmlformats.org/drawingml/2006/main">
              <a:ext uri="{FF2B5EF4-FFF2-40B4-BE49-F238E27FC236}">
                <a16:creationId xmlns:a16="http://schemas.microsoft.com/office/drawing/2014/main" id="{25B0CC53-149D-4A8C-875A-88668EB53FAF}"/>
              </a:ext>
            </a:extLst>
          </p:cNvPr>
          <p:cNvSpPr>
            <a:spLocks xmlns:a="http://schemas.openxmlformats.org/drawingml/2006/main" noGrp="1"/>
          </p:cNvSpPr>
          <p:nvPr/>
        </p:nvSpPr>
        <p:spPr>
          <a:xfrm xmlns:a="http://schemas.openxmlformats.org/drawingml/2006/main">
            <a:off x="6858000" y="480060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463A6"/>
                </a:solidFill>
              </a:defRPr>
            </a:defPPr>
          </a:lstStyle>
          <a:p xmlns:a="http://schemas.openxmlformats.org/drawingml/2006/main">
            <a:pPr>
              <a:defRPr sz="1950" b="1">
                <a:solidFill>
                  <a:srgbClr val="2463A6"/>
                </a:solidFill>
              </a:defRPr>
            </a:pPr>
            <a:r>
              <a:rPr sz="1950" b="1">
                <a:solidFill>
                  <a:srgbClr val="2463A6"/>
                </a:solidFill>
              </a:rPr>
              <a:t>Calibration curves</a:t>
            </a:r>
          </a:p>
        </p:txBody>
      </p:sp>
      <p:sp>
        <p:nvSpPr>
          <p:cNvPr id="8" name="">
            <a:extLst xmlns:a="http://schemas.openxmlformats.org/drawingml/2006/main">
              <a:ext uri="{FF2B5EF4-FFF2-40B4-BE49-F238E27FC236}">
                <a16:creationId xmlns:a16="http://schemas.microsoft.com/office/drawing/2014/main" id="{1B2658E4-F29C-4F52-8345-D891CEF206AD}"/>
              </a:ext>
            </a:extLst>
          </p:cNvPr>
          <p:cNvSpPr>
            <a:spLocks xmlns:a="http://schemas.openxmlformats.org/drawingml/2006/main" noGrp="1"/>
          </p:cNvSpPr>
          <p:nvPr/>
        </p:nvSpPr>
        <p:spPr>
          <a:xfrm xmlns:a="http://schemas.openxmlformats.org/drawingml/2006/main">
            <a:off x="6858000" y="5257800"/>
            <a:ext cx="457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324F"/>
                </a:solidFill>
              </a:defRPr>
            </a:defPPr>
          </a:lstStyle>
          <a:p xmlns:a="http://schemas.openxmlformats.org/drawingml/2006/main">
            <a:pPr>
              <a:defRPr sz="1875" b="0">
                <a:solidFill>
                  <a:srgbClr val="16324F"/>
                </a:solidFill>
              </a:defRPr>
            </a:pPr>
            <a:r>
              <a:rPr sz="1875" b="0">
                <a:solidFill>
                  <a:srgbClr val="16324F"/>
                </a:solidFill>
              </a:rPr>
              <a:t>Compare predicted scores with the</a:t>
            </a:r>
          </a:p>
          <a:p xmlns:a="http://schemas.openxmlformats.org/drawingml/2006/main">
            <a:pPr>
              <a:defRPr sz="1875" b="0">
                <a:solidFill>
                  <a:srgbClr val="16324F"/>
                </a:solidFill>
              </a:defRPr>
            </a:pPr>
            <a:r>
              <a:rPr sz="1875" b="0">
                <a:solidFill>
                  <a:srgbClr val="16324F"/>
                </a:solidFill>
              </a:rPr>
              <a:t>actual fraction of duplicate pairs.</a:t>
            </a:r>
          </a:p>
          <a:p xmlns:a="http://schemas.openxmlformats.org/drawingml/2006/main">
            <a:pPr>
              <a:defRPr sz="1875" b="0">
                <a:solidFill>
                  <a:srgbClr val="16324F"/>
                </a:solidFill>
              </a:defRPr>
            </a:pPr>
            <a:r>
              <a:rPr sz="1875" b="0">
                <a:solidFill>
                  <a:srgbClr val="16324F"/>
                </a:solidFill>
              </a:rPr>
              <a:t>Closer to the diagonal is better.</a:t>
            </a:r>
          </a:p>
        </p:txBody>
      </p:sp>
    </p:spTree>
    <p:extLst>
      <p:ext uri="{BB962C8B-B14F-4D97-AF65-F5344CB8AC3E}">
        <p14:creationId xmlns:p14="http://schemas.microsoft.com/office/powerpoint/2010/main" val="10491931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AB772B-5F20-414F-9130-25E42B4D1D59}"/>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Ensemble Improvement and Conclusion</a:t>
            </a:r>
          </a:p>
        </p:txBody>
      </p:sp>
      <p:sp>
        <p:nvSpPr>
          <p:cNvPr id="2" name="">
            <a:extLst xmlns:a="http://schemas.openxmlformats.org/drawingml/2006/main">
              <a:ext uri="{FF2B5EF4-FFF2-40B4-BE49-F238E27FC236}">
                <a16:creationId xmlns:a16="http://schemas.microsoft.com/office/drawing/2014/main" id="{A2DF4938-6D19-44A6-9F83-F2F434ED23F4}"/>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05</a:t>
            </a:r>
          </a:p>
        </p:txBody>
      </p:sp>
      <p:sp>
        <p:nvSpPr>
          <p:cNvPr id="3" name="">
            <a:extLst xmlns:a="http://schemas.openxmlformats.org/drawingml/2006/main">
              <a:ext uri="{FF2B5EF4-FFF2-40B4-BE49-F238E27FC236}">
                <a16:creationId xmlns:a16="http://schemas.microsoft.com/office/drawing/2014/main" id="{3BF352F8-80E2-493B-8A78-971BFAD44CCE}"/>
              </a:ext>
            </a:extLst>
          </p:cNvPr>
          <p:cNvSpPr>
            <a:spLocks xmlns:a="http://schemas.openxmlformats.org/drawingml/2006/main" noGrp="1"/>
          </p:cNvSpPr>
          <p:nvPr/>
        </p:nvSpPr>
        <p:spPr>
          <a:xfrm xmlns:a="http://schemas.openxmlformats.org/drawingml/2006/main">
            <a:off x="762000" y="1381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463A6"/>
                </a:solidFill>
              </a:defRPr>
            </a:defPPr>
          </a:lstStyle>
          <a:p xmlns:a="http://schemas.openxmlformats.org/drawingml/2006/main">
            <a:pPr>
              <a:defRPr sz="2175" b="1">
                <a:solidFill>
                  <a:srgbClr val="2463A6"/>
                </a:solidFill>
              </a:defRPr>
            </a:pPr>
            <a:r>
              <a:rPr sz="2175" b="1">
                <a:solidFill>
                  <a:srgbClr val="2463A6"/>
                </a:solidFill>
              </a:rPr>
              <a:t>Combine Google, FastText, and Subword predictions</a:t>
            </a:r>
          </a:p>
        </p:txBody>
      </p:sp>
      <p:graphicFrame>
        <p:nvGraphicFramePr>
          <p:cNvPr id="4" name="">
            <a:extLst xmlns:a="http://schemas.openxmlformats.org/drawingml/2006/main">
              <a:ext uri="{FF2B5EF4-FFF2-40B4-BE49-F238E27FC236}">
                <a16:creationId xmlns:a16="http://schemas.microsoft.com/office/drawing/2014/main" id="{9AE600A5-6B24-422F-A5BE-EB0E95B6C4FC}"/>
              </a:ext>
            </a:extLst>
          </p:cNvPr>
          <p:cNvGraphicFramePr/>
          <p:nvPr/>
        </p:nvGraphicFramePr>
        <p:xfrm>
          <a:off xmlns:a="http://schemas.openxmlformats.org/drawingml/2006/main" x="762000" y="1962150"/>
          <a:ext xmlns:a="http://schemas.openxmlformats.org/drawingml/2006/main" cx="10668000" cy="2143125"/>
        </p:xfrm>
        <a:graphic xmlns:a="http://schemas.openxmlformats.org/drawingml/2006/main">
          <a:graphicData uri="http://schemas.openxmlformats.org/drawingml/2006/table">
            <a:tbl>
              <a:tblPr/>
              <a:tblGrid>
                <a:gridCol w="5715000"/>
                <a:gridCol w="2476500"/>
                <a:gridCol w="2476500"/>
              </a:tblGrid>
              <a:tr h="535781">
                <a:tc>
                  <a:txBody>
                    <a:bodyPr/>
                    <a:lstStyle/>
                    <a:p>
                      <a:pPr algn="l"/>
                      <a:r>
                        <a:rPr sz="1800" b="1">
                          <a:solidFill>
                            <a:srgbClr val="FFFFFF"/>
                          </a:solidFill>
                        </a:rPr>
                        <a:t>Approach</a:t>
                      </a:r>
                    </a:p>
                  </a:txBody>
                  <a:tcPr marL="133350" marR="95250" marT="95250" marB="95250" anchor="ctr">
                    <a:solidFill>
                      <a:srgbClr val="16324F"/>
                    </a:solidFill>
                  </a:tcPr>
                </a:tc>
                <a:tc>
                  <a:txBody>
                    <a:bodyPr/>
                    <a:lstStyle/>
                    <a:p>
                      <a:pPr algn="ctr"/>
                      <a:r>
                        <a:rPr sz="1800" b="1">
                          <a:solidFill>
                            <a:srgbClr val="FFFFFF"/>
                          </a:solidFill>
                        </a:rPr>
                        <a:t>Test accuracy</a:t>
                      </a:r>
                    </a:p>
                  </a:txBody>
                  <a:tcPr marL="133350" marR="95250" marT="95250" marB="95250" anchor="ctr">
                    <a:solidFill>
                      <a:srgbClr val="16324F"/>
                    </a:solidFill>
                  </a:tcPr>
                </a:tc>
                <a:tc>
                  <a:txBody>
                    <a:bodyPr/>
                    <a:lstStyle/>
                    <a:p>
                      <a:pPr algn="ctr"/>
                      <a:r>
                        <a:rPr sz="1800" b="1">
                          <a:solidFill>
                            <a:srgbClr val="FFFFFF"/>
                          </a:solidFill>
                        </a:rPr>
                        <a:t>Change</a:t>
                      </a:r>
                    </a:p>
                  </a:txBody>
                  <a:tcPr marL="133350" marR="95250" marT="95250" marB="95250" anchor="ctr">
                    <a:solidFill>
                      <a:srgbClr val="16324F"/>
                    </a:solidFill>
                  </a:tcPr>
                </a:tc>
              </a:tr>
              <a:tr h="535781">
                <a:tc>
                  <a:txBody>
                    <a:bodyPr/>
                    <a:lstStyle/>
                    <a:p>
                      <a:pPr algn="l"/>
                      <a:r>
                        <a:rPr sz="1800" b="0">
                          <a:solidFill>
                            <a:srgbClr val="16324F"/>
                          </a:solidFill>
                        </a:rPr>
                        <a:t>Original fixed blend</a:t>
                      </a:r>
                    </a:p>
                  </a:txBody>
                  <a:tcPr marL="133350" marR="95250" marT="95250" marB="95250" anchor="ctr">
                    <a:solidFill>
                      <a:srgbClr val="F0F5FA"/>
                    </a:solidFill>
                  </a:tcPr>
                </a:tc>
                <a:tc>
                  <a:txBody>
                    <a:bodyPr/>
                    <a:lstStyle/>
                    <a:p>
                      <a:pPr algn="ctr"/>
                      <a:r>
                        <a:rPr sz="1800" b="0">
                          <a:solidFill>
                            <a:srgbClr val="16324F"/>
                          </a:solidFill>
                        </a:rPr>
                        <a:t>81.81%</a:t>
                      </a:r>
                    </a:p>
                  </a:txBody>
                  <a:tcPr marL="133350" marR="95250" marT="95250" marB="95250" anchor="ctr">
                    <a:solidFill>
                      <a:srgbClr val="F0F5FA"/>
                    </a:solidFill>
                  </a:tcPr>
                </a:tc>
                <a:tc>
                  <a:txBody>
                    <a:bodyPr/>
                    <a:lstStyle/>
                    <a:p>
                      <a:pPr algn="ctr"/>
                      <a:r>
                        <a:rPr sz="1800" b="0">
                          <a:solidFill>
                            <a:srgbClr val="16324F"/>
                          </a:solidFill>
                        </a:rPr>
                        <a:t>Baseline</a:t>
                      </a:r>
                    </a:p>
                  </a:txBody>
                  <a:tcPr marL="133350" marR="95250" marT="95250" marB="95250" anchor="ctr">
                    <a:solidFill>
                      <a:srgbClr val="F0F5FA"/>
                    </a:solidFill>
                  </a:tcPr>
                </a:tc>
              </a:tr>
              <a:tr h="535781">
                <a:tc>
                  <a:txBody>
                    <a:bodyPr/>
                    <a:lstStyle/>
                    <a:p>
                      <a:pPr algn="l"/>
                      <a:r>
                        <a:rPr sz="1800" b="0">
                          <a:solidFill>
                            <a:srgbClr val="16324F"/>
                          </a:solidFill>
                        </a:rPr>
                        <a:t>Threshold tuning</a:t>
                      </a:r>
                    </a:p>
                  </a:txBody>
                  <a:tcPr marL="133350" marR="95250" marT="95250" marB="95250" anchor="ctr">
                    <a:solidFill>
                      <a:srgbClr val="FFFFFF"/>
                    </a:solidFill>
                  </a:tcPr>
                </a:tc>
                <a:tc>
                  <a:txBody>
                    <a:bodyPr/>
                    <a:lstStyle/>
                    <a:p>
                      <a:pPr algn="ctr"/>
                      <a:r>
                        <a:rPr sz="1800" b="0">
                          <a:solidFill>
                            <a:srgbClr val="16324F"/>
                          </a:solidFill>
                        </a:rPr>
                        <a:t>82.34%</a:t>
                      </a:r>
                    </a:p>
                  </a:txBody>
                  <a:tcPr marL="133350" marR="95250" marT="95250" marB="95250" anchor="ctr">
                    <a:solidFill>
                      <a:srgbClr val="FFFFFF"/>
                    </a:solidFill>
                  </a:tcPr>
                </a:tc>
                <a:tc>
                  <a:txBody>
                    <a:bodyPr/>
                    <a:lstStyle/>
                    <a:p>
                      <a:pPr algn="ctr"/>
                      <a:r>
                        <a:rPr sz="1800" b="0">
                          <a:solidFill>
                            <a:srgbClr val="16324F"/>
                          </a:solidFill>
                        </a:rPr>
                        <a:t>+0.53 pp</a:t>
                      </a:r>
                    </a:p>
                  </a:txBody>
                  <a:tcPr marL="133350" marR="95250" marT="95250" marB="95250" anchor="ctr">
                    <a:solidFill>
                      <a:srgbClr val="FFFFFF"/>
                    </a:solidFill>
                  </a:tcPr>
                </a:tc>
              </a:tr>
              <a:tr h="535781">
                <a:tc>
                  <a:txBody>
                    <a:bodyPr/>
                    <a:lstStyle/>
                    <a:p>
                      <a:pPr algn="l"/>
                      <a:r>
                        <a:rPr sz="1800" b="0">
                          <a:solidFill>
                            <a:srgbClr val="16324F"/>
                          </a:solidFill>
                        </a:rPr>
                        <a:t>Isotonic blend*</a:t>
                      </a:r>
                    </a:p>
                  </a:txBody>
                  <a:tcPr marL="133350" marR="95250" marT="95250" marB="95250" anchor="ctr">
                    <a:solidFill>
                      <a:srgbClr val="F0F5FA"/>
                    </a:solidFill>
                  </a:tcPr>
                </a:tc>
                <a:tc>
                  <a:txBody>
                    <a:bodyPr/>
                    <a:lstStyle/>
                    <a:p>
                      <a:pPr algn="ctr"/>
                      <a:r>
                        <a:rPr sz="1800" b="0">
                          <a:solidFill>
                            <a:srgbClr val="16324F"/>
                          </a:solidFill>
                        </a:rPr>
                        <a:t>82.35%</a:t>
                      </a:r>
                    </a:p>
                  </a:txBody>
                  <a:tcPr marL="133350" marR="95250" marT="95250" marB="95250" anchor="ctr">
                    <a:solidFill>
                      <a:srgbClr val="F0F5FA"/>
                    </a:solidFill>
                  </a:tcPr>
                </a:tc>
                <a:tc>
                  <a:txBody>
                    <a:bodyPr/>
                    <a:lstStyle/>
                    <a:p>
                      <a:pPr algn="ctr"/>
                      <a:r>
                        <a:rPr sz="1800" b="0">
                          <a:solidFill>
                            <a:srgbClr val="16324F"/>
                          </a:solidFill>
                        </a:rPr>
                        <a:t>+0.54 pp</a:t>
                      </a:r>
                    </a:p>
                  </a:txBody>
                  <a:tcPr marL="133350" marR="95250" marT="95250" marB="95250" anchor="ctr">
                    <a:solidFill>
                      <a:srgbClr val="F0F5FA"/>
                    </a:solidFill>
                  </a:tcPr>
                </a:tc>
              </a:tr>
            </a:tbl>
          </a:graphicData>
        </a:graphic>
      </p:graphicFrame>
      <p:sp>
        <p:nvSpPr>
          <p:cNvPr id="5" name="">
            <a:extLst xmlns:a="http://schemas.openxmlformats.org/drawingml/2006/main">
              <a:ext uri="{FF2B5EF4-FFF2-40B4-BE49-F238E27FC236}">
                <a16:creationId xmlns:a16="http://schemas.microsoft.com/office/drawing/2014/main" id="{AA01D9DB-3D18-4E19-8D9C-1C24220D112E}"/>
              </a:ext>
            </a:extLst>
          </p:cNvPr>
          <p:cNvSpPr>
            <a:spLocks xmlns:a="http://schemas.openxmlformats.org/drawingml/2006/main" noGrp="1"/>
          </p:cNvSpPr>
          <p:nvPr/>
        </p:nvSpPr>
        <p:spPr>
          <a:xfrm xmlns:a="http://schemas.openxmlformats.org/drawingml/2006/main">
            <a:off x="762000" y="43053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577"/>
                </a:solidFill>
              </a:defRPr>
            </a:defPPr>
          </a:lstStyle>
          <a:p xmlns:a="http://schemas.openxmlformats.org/drawingml/2006/main">
            <a:pPr>
              <a:defRPr sz="1650" b="0">
                <a:solidFill>
                  <a:srgbClr val="536577"/>
                </a:solidFill>
              </a:defRPr>
            </a:pPr>
            <a:r>
              <a:rPr sz="1650" b="0">
                <a:solidFill>
                  <a:srgbClr val="536577"/>
                </a:solidFill>
              </a:rPr>
              <a:t>*Validation selected isotonic blending. pp = percentage points.</a:t>
            </a:r>
          </a:p>
        </p:txBody>
      </p:sp>
      <p:sp>
        <p:nvSpPr>
          <p:cNvPr id="6" name="">
            <a:extLst xmlns:a="http://schemas.openxmlformats.org/drawingml/2006/main">
              <a:ext uri="{FF2B5EF4-FFF2-40B4-BE49-F238E27FC236}">
                <a16:creationId xmlns:a16="http://schemas.microsoft.com/office/drawing/2014/main" id="{EE7A8666-492F-4E08-80CF-0E3FCA133D65}"/>
              </a:ext>
            </a:extLst>
          </p:cNvPr>
          <p:cNvSpPr>
            <a:spLocks xmlns:a="http://schemas.openxmlformats.org/drawingml/2006/main" noGrp="1"/>
          </p:cNvSpPr>
          <p:nvPr/>
        </p:nvSpPr>
        <p:spPr>
          <a:xfrm xmlns:a="http://schemas.openxmlformats.org/drawingml/2006/main">
            <a:off x="762000" y="49339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Key finding</a:t>
            </a:r>
          </a:p>
        </p:txBody>
      </p:sp>
      <p:sp>
        <p:nvSpPr>
          <p:cNvPr id="7" name="">
            <a:extLst xmlns:a="http://schemas.openxmlformats.org/drawingml/2006/main">
              <a:ext uri="{FF2B5EF4-FFF2-40B4-BE49-F238E27FC236}">
                <a16:creationId xmlns:a16="http://schemas.microsoft.com/office/drawing/2014/main" id="{3717D3D3-3CF8-4502-A56D-596BE31BA6F5}"/>
              </a:ext>
            </a:extLst>
          </p:cNvPr>
          <p:cNvSpPr>
            <a:spLocks xmlns:a="http://schemas.openxmlformats.org/drawingml/2006/main" noGrp="1"/>
          </p:cNvSpPr>
          <p:nvPr/>
        </p:nvSpPr>
        <p:spPr>
          <a:xfrm xmlns:a="http://schemas.openxmlformats.org/drawingml/2006/main">
            <a:off x="3714750" y="4895850"/>
            <a:ext cx="7715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24F"/>
                </a:solidFill>
              </a:defRPr>
            </a:defPPr>
          </a:lstStyle>
          <a:p xmlns:a="http://schemas.openxmlformats.org/drawingml/2006/main">
            <a:pPr>
              <a:defRPr sz="1950" b="0">
                <a:solidFill>
                  <a:srgbClr val="16324F"/>
                </a:solidFill>
              </a:defRPr>
            </a:pPr>
            <a:r>
              <a:rPr sz="1950" b="0">
                <a:solidFill>
                  <a:srgbClr val="16324F"/>
                </a:solidFill>
              </a:rPr>
              <a:t>Tuning improves accuracy and calibration.</a:t>
            </a:r>
          </a:p>
          <a:p xmlns:a="http://schemas.openxmlformats.org/drawingml/2006/main">
            <a:pPr>
              <a:defRPr sz="1950" b="0">
                <a:solidFill>
                  <a:srgbClr val="16324F"/>
                </a:solidFill>
              </a:defRPr>
            </a:pPr>
            <a:r>
              <a:rPr sz="1950" b="0">
                <a:solidFill>
                  <a:srgbClr val="16324F"/>
                </a:solidFill>
              </a:rPr>
              <a:t>Brier score improves from 0.1341 to 0.1274 (lower is better).</a:t>
            </a:r>
          </a:p>
        </p:txBody>
      </p:sp>
      <p:sp>
        <p:nvSpPr>
          <p:cNvPr id="8" name="">
            <a:extLst xmlns:a="http://schemas.openxmlformats.org/drawingml/2006/main">
              <a:ext uri="{FF2B5EF4-FFF2-40B4-BE49-F238E27FC236}">
                <a16:creationId xmlns:a16="http://schemas.microsoft.com/office/drawing/2014/main" id="{19089496-CC1D-494E-9CC8-F6F298AAC30E}"/>
              </a:ext>
            </a:extLst>
          </p:cNvPr>
          <p:cNvSpPr>
            <a:spLocks xmlns:a="http://schemas.openxmlformats.org/drawingml/2006/main" noGrp="1"/>
          </p:cNvSpPr>
          <p:nvPr/>
        </p:nvSpPr>
        <p:spPr>
          <a:xfrm xmlns:a="http://schemas.openxmlformats.org/drawingml/2006/main">
            <a:off x="762000" y="58769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463A6"/>
                </a:solidFill>
              </a:defRPr>
            </a:defPPr>
          </a:lstStyle>
          <a:p xmlns:a="http://schemas.openxmlformats.org/drawingml/2006/main">
            <a:pPr>
              <a:defRPr sz="1950" b="1">
                <a:solidFill>
                  <a:srgbClr val="2463A6"/>
                </a:solidFill>
              </a:defRPr>
            </a:pPr>
            <a:r>
              <a:rPr sz="1950" b="1">
                <a:solidFill>
                  <a:srgbClr val="2463A6"/>
                </a:solidFill>
              </a:rPr>
              <a:t>Limits and next step</a:t>
            </a:r>
          </a:p>
        </p:txBody>
      </p:sp>
      <p:sp>
        <p:nvSpPr>
          <p:cNvPr id="9" name="">
            <a:extLst xmlns:a="http://schemas.openxmlformats.org/drawingml/2006/main">
              <a:ext uri="{FF2B5EF4-FFF2-40B4-BE49-F238E27FC236}">
                <a16:creationId xmlns:a16="http://schemas.microsoft.com/office/drawing/2014/main" id="{BBCA78D8-6C88-4AF3-A9AF-0529360B95C6}"/>
              </a:ext>
            </a:extLst>
          </p:cNvPr>
          <p:cNvSpPr>
            <a:spLocks xmlns:a="http://schemas.openxmlformats.org/drawingml/2006/main" noGrp="1"/>
          </p:cNvSpPr>
          <p:nvPr/>
        </p:nvSpPr>
        <p:spPr>
          <a:xfrm xmlns:a="http://schemas.openxmlformats.org/drawingml/2006/main">
            <a:off x="3714750" y="583882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324F"/>
                </a:solidFill>
              </a:defRPr>
            </a:defPPr>
          </a:lstStyle>
          <a:p xmlns:a="http://schemas.openxmlformats.org/drawingml/2006/main">
            <a:pPr>
              <a:defRPr sz="1875" b="0">
                <a:solidFill>
                  <a:srgbClr val="16324F"/>
                </a:solidFill>
              </a:defRPr>
            </a:pPr>
            <a:r>
              <a:rPr sz="1875" b="0">
                <a:solidFill>
                  <a:srgbClr val="16324F"/>
                </a:solidFill>
              </a:rPr>
              <a:t>Paper accuracy remains unreproduced. Test richer text models next.</a:t>
            </a:r>
          </a:p>
        </p:txBody>
      </p:sp>
    </p:spTree>
    <p:extLst>
      <p:ext uri="{BB962C8B-B14F-4D97-AF65-F5344CB8AC3E}">
        <p14:creationId xmlns:p14="http://schemas.microsoft.com/office/powerpoint/2010/main" val="12129397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2026-10-08T15:48:51.2650000Z</dcterms:created>
  <dcterms:modified xsi:type="dcterms:W3CDTF">2026-10-08T15:48:51.2650000Z</dcterms:modified>
</coreProperties>
</file>