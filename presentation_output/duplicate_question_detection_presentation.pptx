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a3b68db8744a9f" /><Relationship Type="http://schemas.openxmlformats.org/officeDocument/2006/relationships/extended-properties" Target="/docProps/app.xml" Id="R496b989a019d44e7" /><Relationship Type="http://schemas.openxmlformats.org/officeDocument/2006/relationships/officeDocument" Target="/ppt/presentation.xml" Id="Re5d24c1ec03641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1861644c084415"/>
  </p:sldMasterIdLst>
  <p:notesMasterIdLst>
    <p:notesMasterId xmlns:r="http://schemas.openxmlformats.org/officeDocument/2006/relationships" r:id="R21d7eb11976a465f"/>
  </p:notesMasterIdLst>
  <p:sldIdLst>
    <p:sldId xmlns:r="http://schemas.openxmlformats.org/officeDocument/2006/relationships" id="256" r:id="R5950131d9faa4c74"/>
    <p:sldId xmlns:r="http://schemas.openxmlformats.org/officeDocument/2006/relationships" id="257" r:id="Rf6ffb54f1f794d6f"/>
    <p:sldId xmlns:r="http://schemas.openxmlformats.org/officeDocument/2006/relationships" id="258" r:id="Refad283023b146ae"/>
    <p:sldId xmlns:r="http://schemas.openxmlformats.org/officeDocument/2006/relationships" id="259" r:id="R43282191092d4445"/>
    <p:sldId xmlns:r="http://schemas.openxmlformats.org/officeDocument/2006/relationships" id="260" r:id="R9dc08b5dae9248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457ee92b984cb7" /><Relationship Type="http://schemas.openxmlformats.org/officeDocument/2006/relationships/slideMaster" Target="/ppt/slideMasters/slideMaster1.xml" Id="R251861644c084415" /><Relationship Type="http://schemas.openxmlformats.org/officeDocument/2006/relationships/notesMaster" Target="/ppt/notesMasters/notesMaster1.xml" Id="R21d7eb11976a465f" /><Relationship Type="http://schemas.openxmlformats.org/officeDocument/2006/relationships/presProps" Target="/ppt/presProps.xml" Id="Rb2d806cfc2b24524" /><Relationship Type="http://schemas.openxmlformats.org/officeDocument/2006/relationships/tableStyles" Target="/ppt/tableStyles.xml" Id="Rac0b27c777de4844" /><Relationship Type="http://schemas.openxmlformats.org/officeDocument/2006/relationships/slide" Target="/ppt/slides/slide1.xml" Id="R5950131d9faa4c74" /><Relationship Type="http://schemas.openxmlformats.org/officeDocument/2006/relationships/slide" Target="/ppt/slides/slide2.xml" Id="Rf6ffb54f1f794d6f" /><Relationship Type="http://schemas.openxmlformats.org/officeDocument/2006/relationships/slide" Target="/ppt/slides/slide3.xml" Id="Refad283023b146ae" /><Relationship Type="http://schemas.openxmlformats.org/officeDocument/2006/relationships/slide" Target="/ppt/slides/slide4.xml" Id="R43282191092d4445" /><Relationship Type="http://schemas.openxmlformats.org/officeDocument/2006/relationships/slide" Target="/ppt/slides/slide5.xml" Id="R9dc08b5dae9248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0e282e92d94c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4f42f7eb54444" /><Relationship Type="http://schemas.openxmlformats.org/officeDocument/2006/relationships/notesMaster" Target="/ppt/notesMasters/notesMaster1.xml" Id="R90a7efbed87c41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317b8cfeff4099" /><Relationship Type="http://schemas.openxmlformats.org/officeDocument/2006/relationships/notesMaster" Target="/ppt/notesMasters/notesMaster1.xml" Id="R7eb7d8b9b3464a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cf620882154a1c" /><Relationship Type="http://schemas.openxmlformats.org/officeDocument/2006/relationships/notesMaster" Target="/ppt/notesMasters/notesMaster1.xml" Id="R47720c8bc56c4d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f2424bf9054192" /><Relationship Type="http://schemas.openxmlformats.org/officeDocument/2006/relationships/notesMaster" Target="/ppt/notesMasters/notesMaster1.xml" Id="Rc136b138866b4c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73c8d018214cc5" /><Relationship Type="http://schemas.openxmlformats.org/officeDocument/2006/relationships/notesMaster" Target="/ppt/notesMasters/notesMaster1.xml" Id="Rb391543ca7a149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727f7f0f84f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2e15c1e4e49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a801feb1f746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897924f0945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caed8785449b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04f717bd0145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DD18353-8EFF-47E7-8828-DFD699CC6D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9D461A-3F79-4943-95FE-312694A800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1DC4ACC-B9F3-4223-A1A5-053601805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A971B0-0C88-4722-A636-E812480A3D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54E229F-D7D9-4C48-9693-7AB439C7AF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0E0EE9-72E0-4F3A-ABF3-F8D132A35D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55EDE3-B413-4401-A96C-7B794C89F6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9FDA2E3-A343-4BCB-8D1A-8F153C698E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1804D1-790A-444F-A647-55C65CBC0C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FD45C4-25AA-452D-8325-6C699E6648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eb9f5305254a72" /><Relationship Type="http://schemas.openxmlformats.org/officeDocument/2006/relationships/slideLayout" Target="/ppt/slideLayouts/slideLayout1.xml" Id="R5fa1d0683cff4146" /><Relationship Type="http://schemas.openxmlformats.org/officeDocument/2006/relationships/slideLayout" Target="/ppt/slideLayouts/slideLayout2.xml" Id="Rc1a8d3b390dd4948" /><Relationship Type="http://schemas.openxmlformats.org/officeDocument/2006/relationships/slideLayout" Target="/ppt/slideLayouts/slideLayout3.xml" Id="R280682c598504c09" /><Relationship Type="http://schemas.openxmlformats.org/officeDocument/2006/relationships/slideLayout" Target="/ppt/slideLayouts/slideLayout4.xml" Id="R6961bc8c739f4d54" /><Relationship Type="http://schemas.openxmlformats.org/officeDocument/2006/relationships/slideLayout" Target="/ppt/slideLayouts/slideLayout5.xml" Id="R64fc061d1b774dd0" /><Relationship Type="http://schemas.openxmlformats.org/officeDocument/2006/relationships/slideLayout" Target="/ppt/slideLayouts/slideLayout6.xml" Id="R93ead5495563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a1d0683cff4146"/>
    <p:sldLayoutId xmlns:r="http://schemas.openxmlformats.org/officeDocument/2006/relationships" id="2147483650" r:id="Rc1a8d3b390dd4948"/>
    <p:sldLayoutId xmlns:r="http://schemas.openxmlformats.org/officeDocument/2006/relationships" id="2147483651" r:id="R280682c598504c09"/>
    <p:sldLayoutId xmlns:r="http://schemas.openxmlformats.org/officeDocument/2006/relationships" id="2147483652" r:id="R6961bc8c739f4d54"/>
    <p:sldLayoutId xmlns:r="http://schemas.openxmlformats.org/officeDocument/2006/relationships" id="2147483653" r:id="R64fc061d1b774dd0"/>
    <p:sldLayoutId xmlns:r="http://schemas.openxmlformats.org/officeDocument/2006/relationships" id="2147483654" r:id="R93ead5495563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d8616189104136" /><Relationship Type="http://schemas.openxmlformats.org/officeDocument/2006/relationships/notesSlide" Target="/ppt/notesSlides/notesSlide1.xml" Id="R2dd8c2995b4649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74c9eb37e044b9" /><Relationship Type="http://schemas.openxmlformats.org/officeDocument/2006/relationships/notesSlide" Target="/ppt/notesSlides/notesSlide2.xml" Id="R71d3292e43d84a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cbabd63fc34ff9" /><Relationship Type="http://schemas.openxmlformats.org/officeDocument/2006/relationships/notesSlide" Target="/ppt/notesSlides/notesSlide3.xml" Id="Rf5a80eb638a34f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c49ba441c4a14" /><Relationship Type="http://schemas.openxmlformats.org/officeDocument/2006/relationships/image" Target="/ppt/media/image.png" Id="R44c05c17cbfd4d42" /><Relationship Type="http://schemas.openxmlformats.org/officeDocument/2006/relationships/image" Target="/ppt/media/image2.png" Id="Rc729e97edb2d4fd7" /><Relationship Type="http://schemas.openxmlformats.org/officeDocument/2006/relationships/notesSlide" Target="/ppt/notesSlides/notesSlide4.xml" Id="R4d68ddf4dedb45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2261f5cb3d41d8" /><Relationship Type="http://schemas.openxmlformats.org/officeDocument/2006/relationships/image" Target="/ppt/media/image3.png" Id="R375c5cafd5f44e05" /><Relationship Type="http://schemas.openxmlformats.org/officeDocument/2006/relationships/notesSlide" Target="/ppt/notesSlides/notesSlide5.xml" Id="Rf257d4b42ae74c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B0420-5067-41B2-9B5F-6E1C44C4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D7F7CF-C306-4EA6-94AD-A66E86EA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2F80ED"/>
                </a:solidFill>
              </a:defRPr>
            </a:pPr>
            <a:r>
              <a:rPr sz="1125" b="1">
                <a:solidFill>
                  <a:srgbClr val="2F80ED"/>
                </a:solidFill>
              </a:rPr>
              <a:t>MACHINE LEARNING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4E8D2-1C41-4C96-9A78-B15A13C2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3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02A43"/>
                </a:solidFill>
              </a:defRPr>
            </a:pPr>
            <a:r>
              <a:rPr sz="3300" b="1">
                <a:solidFill>
                  <a:srgbClr val="102A43"/>
                </a:solidFill>
              </a:rPr>
              <a:t>Duplicate Question Detection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C18D7-A641-4A88-B899-82A0D7C0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6A085"/>
                </a:solidFill>
              </a:defRPr>
            </a:pPr>
            <a:r>
              <a:rPr sz="2100" b="1">
                <a:solidFill>
                  <a:srgbClr val="16A085"/>
                </a:solidFill>
              </a:rPr>
              <a:t>Using a Siamese Manhattan LSTM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1B44F-C251-4E2D-BC18-DDC4CC74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27D98"/>
                </a:solidFill>
              </a:defRPr>
            </a:pPr>
            <a:r>
              <a:rPr sz="1800" b="0">
                <a:solidFill>
                  <a:srgbClr val="627D98"/>
                </a:solidFill>
              </a:rPr>
              <a:t>A simple system for deciding whether two questions ask the same thing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FC645-A1FC-4118-A2B1-2E9DBA57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7E974-F68D-4BA1-B58D-191AD6A8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2F80ED"/>
                </a:solidFill>
              </a:defRPr>
            </a:pPr>
            <a:r>
              <a:rPr sz="2100" b="1">
                <a:solidFill>
                  <a:srgbClr val="2F80ED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A6DAC-5FAA-4984-971A-E485E825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717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same meaning?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9FE43-B859-4654-AC82-15AF30E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ctr">
              <a:defRPr sz="2100" b="1">
                <a:solidFill>
                  <a:srgbClr val="16A085"/>
                </a:solidFill>
              </a:defRPr>
            </a:pPr>
            <a:r>
              <a:rPr sz="2100" b="1">
                <a:solidFill>
                  <a:srgbClr val="16A085"/>
                </a:solidFill>
              </a:rPr>
              <a:t>Q2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9B0BE-26DE-4E9E-ABB4-C8595A42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27D98"/>
                </a:solidFill>
              </a:defRPr>
            </a:pPr>
            <a:r>
              <a:rPr sz="1275" b="0">
                <a:solidFill>
                  <a:srgbClr val="627D98"/>
                </a:solidFill>
              </a:rPr>
              <a:t>Presented to: Professor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85A8C-4A1D-408D-9CA8-0AD5A8B7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627D98"/>
                </a:solidFill>
              </a:defRPr>
            </a:pPr>
            <a:r>
              <a:rPr sz="1200" b="0">
                <a:solidFill>
                  <a:srgbClr val="627D98"/>
                </a:solidFill>
              </a:rPr>
              <a:t>Project 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A7896-A748-4077-B6D5-96C9E983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1/5</a:t>
            </a:r>
          </a:p>
        </p:txBody>
      </p:sp>
    </p:spTree>
    <p:extLst>
      <p:ext uri="{BB962C8B-B14F-4D97-AF65-F5344CB8AC3E}">
        <p14:creationId xmlns:p14="http://schemas.microsoft.com/office/powerpoint/2010/main" val="10541522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D9F44-88D6-478D-B170-6386DEE3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F0C70-B4C0-4EE1-8F1F-047876FD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Problem, dataset, and preprocessing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6D066-45DB-4EB8-B37B-069C26D7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The task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4594A-B98D-4C8A-A6FD-25E4C53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99B167-1974-4799-8B4D-B61693B8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Input: a pair of natural-language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AA94C-A143-449E-998D-1DACC21F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B99B9-6292-483E-8F38-0FBC8B2A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Output: duplicate (1) or different (0)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F8ED7-0BEE-4C00-A85C-32CFC039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A686F2-D956-4B11-AA95-DF6DB08D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Goal: capture meaning, even when the words are different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06418-C948-4614-B2C0-EC5D2898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The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5F0DD-9203-40F0-B4B0-F264DC0E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5AEBA-3FEC-47B7-AE53-BD727145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Quora question-pair dataset with question1, question2, and is_duplicate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76DDE-141E-41BE-A80D-89431B56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885FE-913C-4128-BEB2-F6C2190C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75% training, 10% validation from training, and 25%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466882-FA73-40BB-8EF3-A5EB98C0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E3297-A205-4D71-9E57-370180B1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101,073 saved test pairs; stratified split with seed 42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AA9912-11E4-4C9E-A1CD-7507860F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38250"/>
            <a:ext cx="2857500" cy="4000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DC7EC-0C6B-4190-8A69-09C2842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71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Preprocessing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39926-1962-4415-99CE-BF176BA5A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09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Lowercase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Remove stopwords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Porter stemming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Tokenize and pad</a:t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to 20 words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7B555-72B9-4392-B343-F292F044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2/5</a:t>
            </a:r>
          </a:p>
        </p:txBody>
      </p:sp>
    </p:spTree>
    <p:extLst>
      <p:ext uri="{BB962C8B-B14F-4D97-AF65-F5344CB8AC3E}">
        <p14:creationId xmlns:p14="http://schemas.microsoft.com/office/powerpoint/2010/main" val="8524868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EE739-CE45-47C2-9A7F-5DC6CF7A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99C40-BB9F-4E1C-BE70-85AC6A40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Siamese MaLSTM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41C914-D910-4DD9-8014-B8F13CFC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D2FA6-A917-40DD-9EAC-D87AC993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Question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C3321-35DE-48A3-B076-53F8AD1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57301-68FB-49F1-B7FF-31CED8ED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4812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Question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889FC-B669-4FA3-8B10-6F6D21F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19375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5F671-71C3-4B55-BA48-E3C8CF62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98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Shared LSTM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2EEB9-7EAD-4AD1-9242-5EE6E30C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A22F88-C6DA-402E-8358-A140B11E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09875"/>
            <a:ext cx="171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Similarity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F57EE-1E57-4092-926F-B1F30524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9375"/>
            <a:ext cx="1809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75A0C-0CBE-4CA2-A88E-1EA4754D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0987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6A085"/>
                </a:solidFill>
              </a:defRPr>
            </a:pPr>
            <a:r>
              <a:rPr sz="1650" b="1">
                <a:solidFill>
                  <a:srgbClr val="16A085"/>
                </a:solidFill>
              </a:rPr>
              <a:t>Prediction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DDECB-F319-4F1B-8975-681E1517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38375"/>
            <a:ext cx="904875" cy="809625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A6746-0E38-4F3F-9DE9-11CF4B70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38500"/>
            <a:ext cx="904875" cy="10477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49609-60E9-4C61-8F6A-4E5D9D9E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048000"/>
            <a:ext cx="80962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BC42-EE18-4546-8896-4E6E9E0C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480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A0041-4A3F-4B21-A573-443CE5F1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19062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575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ctr">
              <a:defRPr sz="1575" b="0">
                <a:solidFill>
                  <a:srgbClr val="627D98"/>
                </a:solidFill>
              </a:defRPr>
            </a:pPr>
            <a:r>
              <a:rPr sz="1575" b="0">
                <a:solidFill>
                  <a:srgbClr val="627D98"/>
                </a:solidFill>
              </a:rPr>
              <a:t>Both questions use the same network weights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00CD7E-7226-4DBF-AD84-07212EE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48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F80ED"/>
                </a:solidFill>
              </a:defRPr>
            </a:pPr>
            <a:r>
              <a:rPr sz="1875" b="1">
                <a:solidFill>
                  <a:srgbClr val="2F80ED"/>
                </a:solidFill>
              </a:rPr>
              <a:t>Similarity = exp(− Manhattan distance)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29860-7991-4804-A9F3-F25B43F1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150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27D98"/>
                </a:solidFill>
              </a:defRPr>
            </a:pPr>
            <a:r>
              <a:rPr sz="1350" b="0">
                <a:solidFill>
                  <a:srgbClr val="627D98"/>
                </a:solidFill>
              </a:rPr>
              <a:t>300d embeddings  |  50 LSTM units  |  threshold 0.5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7B9C07-99E6-4098-B618-EB07C771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3/5</a:t>
            </a:r>
          </a:p>
        </p:txBody>
      </p:sp>
    </p:spTree>
    <p:extLst>
      <p:ext uri="{BB962C8B-B14F-4D97-AF65-F5344CB8AC3E}">
        <p14:creationId xmlns:p14="http://schemas.microsoft.com/office/powerpoint/2010/main" val="181010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4D6462-9D81-4C09-A9DA-1B3DF34C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3664E-1806-484F-BF65-B460EEC5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Results and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B6C4F-1D01-4542-8DA0-A027A7B8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0012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Held-out test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23845-FE90-4F64-93B8-B6B05AE8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Google News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3F585-C235-4663-AFDC-9CDFE2BD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454F8-32D3-4B9F-B20E-F93093D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571625"/>
            <a:ext cx="3817418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87FAD-564C-46BB-8532-0F9562C6E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81.11%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C4E63-217C-41F9-9627-7AB9D0EC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FastText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5EBC8-72CF-4E35-9BD9-AC1E9173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CCC2B-9A5B-4B9E-93B0-57FD6334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3840009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17342-23A2-49A3-AE29-75D1E8A1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81.59%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4E6FE-A0D3-4128-BC58-C3979267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Subword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C4356-B1DD-43C0-A37D-415CC02E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D8A72-E70E-4560-A622-1FACB811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3779767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59375A-7CAB-4672-8A69-170AC6A6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80.31%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C341C-934F-4E6B-8817-E03250C0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Original ensemble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9518F-4F46-4406-8826-1C7DAF93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188B2-D022-48EB-850C-DEE044D7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3850364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B2522-B16B-401E-9AAE-F0CCED55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81.81%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450BE9-C5B4-4FD8-8580-053849E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243B53"/>
                </a:solidFill>
              </a:defRPr>
            </a:pPr>
            <a:r>
              <a:rPr sz="1500" b="1">
                <a:solidFill>
                  <a:srgbClr val="243B53"/>
                </a:solidFill>
              </a:rPr>
              <a:t>Isotonic blend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C4997C-5509-4529-A50F-970CF7FA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4000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2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CE988-AE85-493F-9067-1CA0B49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67125"/>
            <a:ext cx="3875779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A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B7F60C-C982-4959-9D38-9784DE03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82.35%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B48D9-6894-4223-AA39-DDD75E0F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What we measure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E305CC-448F-4F7D-9260-E47AF26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53386-2134-4CAD-A2E9-C7E600F0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05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Accuracy: overall correct predictions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CC0001-9A28-4ADE-A424-5DB4CF90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A4B256-3214-49EF-BA91-1EE96F61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Precision, recall, and F1: quality of duplicate detection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FE9EB5-7EF1-47E6-85E4-CBF517CA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93A72-5F07-47B4-8CAC-C9C12E0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6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Confusion matrix and calibration: where errors occur and how reliable scores are</a:t>
            </a:r>
          </a:p>
        </p:txBody>
      </p:sp>
      <p:pic>
        <p:nvPic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2FA533-A871-4EBE-ACE6-907B4396D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05c17cbfd4d42"/>
          <a:stretch xmlns:a="http://schemas.openxmlformats.org/drawingml/2006/main"/>
        </p:blipFill>
        <p:spPr>
          <a:xfrm xmlns:a="http://schemas.openxmlformats.org/drawingml/2006/main">
            <a:off x="8239125" y="1190625"/>
            <a:ext cx="3333750" cy="2238375"/>
          </a:xfrm>
          <a:prstGeom xmlns:a="http://schemas.openxmlformats.org/drawingml/2006/main" prst="rect">
            <a:avLst/>
          </a:prstGeom>
        </p:spPr>
      </p:pic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430C74-F2AB-4ABA-912A-FA3479D386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9e97edb2d4fd7"/>
          <a:stretch xmlns:a="http://schemas.openxmlformats.org/drawingml/2006/main"/>
        </p:blipFill>
        <p:spPr>
          <a:xfrm xmlns:a="http://schemas.openxmlformats.org/drawingml/2006/main">
            <a:off x="8239125" y="3667125"/>
            <a:ext cx="3333750" cy="166687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24DD38-6B7A-4237-B9FE-DF28C3E1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4/5</a:t>
            </a:r>
          </a:p>
        </p:txBody>
      </p:sp>
    </p:spTree>
    <p:extLst>
      <p:ext uri="{BB962C8B-B14F-4D97-AF65-F5344CB8AC3E}">
        <p14:creationId xmlns:p14="http://schemas.microsoft.com/office/powerpoint/2010/main" val="4719524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8F182-17A2-45D2-95D7-56363FDC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F80ED"/>
                </a:solidFill>
              </a:defRPr>
            </a:pPr>
            <a:r>
              <a:rPr sz="1350" b="1">
                <a:solidFill>
                  <a:srgbClr val="2F80ED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C778E6-C275-4812-9A72-931A1B7B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4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Ensemble improvement and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BD0C3-9A68-4D5C-80E3-ED23FD02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477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F80ED"/>
                </a:solidFill>
              </a:defRPr>
            </a:pPr>
            <a:r>
              <a:rPr sz="1575" b="1">
                <a:solidFill>
                  <a:srgbClr val="2F80ED"/>
                </a:solidFill>
              </a:rPr>
              <a:t>Why combine models?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A149E-16D6-4E8A-9983-265C8374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0915C-D138-44FF-9723-1F2B07E9A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Each embedding sees language in a different 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09CA8-E2E8-443E-A30E-E840401E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ED9E1-CAF4-42E1-A37B-5E46B7AA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52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A weighted blend can reduce the weaknesses of one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7FB673-4B1D-473C-A256-56EA870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27290-DE40-4E59-A80A-E0663B22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243B53"/>
                </a:solidFill>
              </a:defRPr>
            </a:pPr>
            <a:r>
              <a:rPr sz="1500" b="0">
                <a:solidFill>
                  <a:srgbClr val="243B53"/>
                </a:solidFill>
              </a:rPr>
              <a:t>Calibration and threshold tuning improve the balance of errors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42077-2C40-41CD-98C1-FCF54005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762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FD3AD-E4E2-464E-8BF4-096C31DA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71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A085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6A085"/>
                </a:solidFill>
              </a:defRPr>
            </a:pPr>
            <a:r>
              <a:rPr sz="1500" b="1">
                <a:solidFill>
                  <a:srgbClr val="16A085"/>
                </a:solidFill>
              </a:rPr>
              <a:t>Key finding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78D85-EC64-4CD6-910D-41DB8F14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Original ensemble: 81.81%</a:t>
            </a:r>
          </a:p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Selected isotonic blend: 82.35%</a:t>
            </a:r>
          </a:p>
          <a:p xmlns:a="http://schemas.openxmlformats.org/drawingml/2006/main">
            <a:pPr algn="l"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Improvement: +0.54 percentage 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DBA89-07DD-4735-98EF-6D146BD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43000"/>
            <a:ext cx="47625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540FA-D631-4926-A8C0-0A46BD2A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2F80ED"/>
                </a:solidFill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Conclusion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7C54D-8177-4E3F-90B3-9C3992B2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3905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0">
                <a:solidFill>
                  <a:srgbClr val="243B53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Siamese MaLSTM compares question meaning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FastText gives the best single-model accuracy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The ensemble improves the final result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43B53"/>
                </a:solidFill>
              </a:defRPr>
            </a:pPr>
            <a:r>
              <a:rPr sz="1575" b="0">
                <a:solidFill>
                  <a:srgbClr val="243B53"/>
                </a:solidFill>
              </a:rPr>
              <a:t>• Future work: test more architectures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9D8A9-B8F5-4BC5-B87D-03799199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02A43"/>
                </a:solidFill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A useful baseline for duplicate-question detection.</a:t>
            </a:r>
          </a:p>
        </p:txBody>
      </p: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24A686-BAAB-4D95-A894-F4CF3901D4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c5cafd5f44e05"/>
          <a:stretch xmlns:a="http://schemas.openxmlformats.org/drawingml/2006/main"/>
        </p:blipFill>
        <p:spPr>
          <a:xfrm xmlns:a="http://schemas.openxmlformats.org/drawingml/2006/main">
            <a:off x="762000" y="5286375"/>
            <a:ext cx="4762500" cy="1000125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52458-956C-401B-8C78-C940E492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96050"/>
            <a:ext cx="1085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0">
                <a:solidFill>
                  <a:srgbClr val="627D98"/>
                </a:solidFill>
              </a:defRPr>
            </a:defPPr>
          </a:lstStyle>
          <a:p xmlns:a="http://schemas.openxmlformats.org/drawingml/2006/main">
            <a:pPr algn="r">
              <a:defRPr sz="900" b="0">
                <a:solidFill>
                  <a:srgbClr val="627D98"/>
                </a:solidFill>
              </a:defRPr>
            </a:pPr>
            <a:r>
              <a:rPr sz="900" b="0">
                <a:solidFill>
                  <a:srgbClr val="627D98"/>
                </a:solidFill>
              </a:rPr>
              <a:t>Duplicate Question Detection  |  5/5</a:t>
            </a:r>
          </a:p>
        </p:txBody>
      </p:sp>
    </p:spTree>
    <p:extLst>
      <p:ext uri="{BB962C8B-B14F-4D97-AF65-F5344CB8AC3E}">
        <p14:creationId xmlns:p14="http://schemas.microsoft.com/office/powerpoint/2010/main" val="304522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2026-10-08T15:43:15.2180000Z</dcterms:created>
  <dcterms:modified xsi:type="dcterms:W3CDTF">2026-10-08T15:43:15.2180000Z</dcterms:modified>
</coreProperties>
</file>