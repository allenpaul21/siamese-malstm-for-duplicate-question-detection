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8afeb18c04468c" /><Relationship Type="http://schemas.openxmlformats.org/officeDocument/2006/relationships/extended-properties" Target="/docProps/app.xml" Id="Raf97f0d214ad4a14" /><Relationship Type="http://schemas.openxmlformats.org/officeDocument/2006/relationships/officeDocument" Target="/ppt/presentation.xml" Id="R7a86cd5abf2e41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497e415ffc4910"/>
  </p:sldMasterIdLst>
  <p:notesMasterIdLst>
    <p:notesMasterId xmlns:r="http://schemas.openxmlformats.org/officeDocument/2006/relationships" r:id="Rc5e434ea462d4ae8"/>
  </p:notesMasterIdLst>
  <p:sldIdLst>
    <p:sldId xmlns:r="http://schemas.openxmlformats.org/officeDocument/2006/relationships" id="256" r:id="Rc0b9a903418849ad"/>
    <p:sldId xmlns:r="http://schemas.openxmlformats.org/officeDocument/2006/relationships" id="257" r:id="R95ae3bbd32634597"/>
    <p:sldId xmlns:r="http://schemas.openxmlformats.org/officeDocument/2006/relationships" id="258" r:id="R57e05079c34343b1"/>
    <p:sldId xmlns:r="http://schemas.openxmlformats.org/officeDocument/2006/relationships" id="259" r:id="Rc38b7b2639d146db"/>
    <p:sldId xmlns:r="http://schemas.openxmlformats.org/officeDocument/2006/relationships" id="260" r:id="Ra48cfeb7e15a46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23220c20b14bea" /><Relationship Type="http://schemas.openxmlformats.org/officeDocument/2006/relationships/slideMaster" Target="/ppt/slideMasters/slideMaster1.xml" Id="R98497e415ffc4910" /><Relationship Type="http://schemas.openxmlformats.org/officeDocument/2006/relationships/notesMaster" Target="/ppt/notesMasters/notesMaster1.xml" Id="Rc5e434ea462d4ae8" /><Relationship Type="http://schemas.openxmlformats.org/officeDocument/2006/relationships/presProps" Target="/ppt/presProps.xml" Id="Ra2ffe3d6394c4282" /><Relationship Type="http://schemas.openxmlformats.org/officeDocument/2006/relationships/tableStyles" Target="/ppt/tableStyles.xml" Id="R3c6f4f36856b4d1c" /><Relationship Type="http://schemas.openxmlformats.org/officeDocument/2006/relationships/slide" Target="/ppt/slides/slide1.xml" Id="Rc0b9a903418849ad" /><Relationship Type="http://schemas.openxmlformats.org/officeDocument/2006/relationships/slide" Target="/ppt/slides/slide2.xml" Id="R95ae3bbd32634597" /><Relationship Type="http://schemas.openxmlformats.org/officeDocument/2006/relationships/slide" Target="/ppt/slides/slide3.xml" Id="R57e05079c34343b1" /><Relationship Type="http://schemas.openxmlformats.org/officeDocument/2006/relationships/slide" Target="/ppt/slides/slide4.xml" Id="Rc38b7b2639d146db" /><Relationship Type="http://schemas.openxmlformats.org/officeDocument/2006/relationships/slide" Target="/ppt/slides/slide5.xml" Id="Ra48cfeb7e15a46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883496c2c44c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3e1b99ce884b01" /><Relationship Type="http://schemas.openxmlformats.org/officeDocument/2006/relationships/notesMaster" Target="/ppt/notesMasters/notesMaster1.xml" Id="R88731e2b3b074d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28a13acce54eb7" /><Relationship Type="http://schemas.openxmlformats.org/officeDocument/2006/relationships/notesMaster" Target="/ppt/notesMasters/notesMaster1.xml" Id="R47f57524549a4b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9012a77f294db2" /><Relationship Type="http://schemas.openxmlformats.org/officeDocument/2006/relationships/notesMaster" Target="/ppt/notesMasters/notesMaster1.xml" Id="R33109668fa2e4c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6597662ec6481c" /><Relationship Type="http://schemas.openxmlformats.org/officeDocument/2006/relationships/notesMaster" Target="/ppt/notesMasters/notesMaster1.xml" Id="R99454fb526434b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9e8959d4e24f94" /><Relationship Type="http://schemas.openxmlformats.org/officeDocument/2006/relationships/notesMaster" Target="/ppt/notesMasters/notesMaster1.xml" Id="Rb753dcc0b4a044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4d2de430740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9181fa4c1044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4ad7545814c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d94d630f8145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550843681e46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0bca6b97c4f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C3DE57-B558-46DE-A3A8-1457DE43AE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ED9D6AD-7395-4750-8E59-DE0DE763E1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14E1941-8126-40DE-9778-A519E5FE4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A600CD-5B44-49F6-B0BC-F4E71998D8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C59CF17-1638-4874-99FC-2F93BAEE94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27D165-7714-4BA1-A5F5-1AACFA5386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4BA255-03B4-457A-930F-B737552408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F97BC0D-C2F5-41B2-BE2A-29CD11F4C9B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0B06E3-6FD7-4D2F-9E87-F4AC31A993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5FBF87-E920-4A5C-8C86-179209623B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876c1498bc46d8" /><Relationship Type="http://schemas.openxmlformats.org/officeDocument/2006/relationships/slideLayout" Target="/ppt/slideLayouts/slideLayout1.xml" Id="R1ee6a6d16d2845e2" /><Relationship Type="http://schemas.openxmlformats.org/officeDocument/2006/relationships/slideLayout" Target="/ppt/slideLayouts/slideLayout2.xml" Id="Ra049ad9361a5411f" /><Relationship Type="http://schemas.openxmlformats.org/officeDocument/2006/relationships/slideLayout" Target="/ppt/slideLayouts/slideLayout3.xml" Id="R724ac39b36c04c6c" /><Relationship Type="http://schemas.openxmlformats.org/officeDocument/2006/relationships/slideLayout" Target="/ppt/slideLayouts/slideLayout4.xml" Id="R04a04a142a30402f" /><Relationship Type="http://schemas.openxmlformats.org/officeDocument/2006/relationships/slideLayout" Target="/ppt/slideLayouts/slideLayout5.xml" Id="R2e5990f0bf5f48f4" /><Relationship Type="http://schemas.openxmlformats.org/officeDocument/2006/relationships/slideLayout" Target="/ppt/slideLayouts/slideLayout6.xml" Id="R5d01fbe8d1ba49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e6a6d16d2845e2"/>
    <p:sldLayoutId xmlns:r="http://schemas.openxmlformats.org/officeDocument/2006/relationships" id="2147483650" r:id="Ra049ad9361a5411f"/>
    <p:sldLayoutId xmlns:r="http://schemas.openxmlformats.org/officeDocument/2006/relationships" id="2147483651" r:id="R724ac39b36c04c6c"/>
    <p:sldLayoutId xmlns:r="http://schemas.openxmlformats.org/officeDocument/2006/relationships" id="2147483652" r:id="R04a04a142a30402f"/>
    <p:sldLayoutId xmlns:r="http://schemas.openxmlformats.org/officeDocument/2006/relationships" id="2147483653" r:id="R2e5990f0bf5f48f4"/>
    <p:sldLayoutId xmlns:r="http://schemas.openxmlformats.org/officeDocument/2006/relationships" id="2147483654" r:id="R5d01fbe8d1ba49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7c283481e24a94" /><Relationship Type="http://schemas.openxmlformats.org/officeDocument/2006/relationships/notesSlide" Target="/ppt/notesSlides/notesSlide1.xml" Id="R14590c58f58049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64a61db2b44471" /><Relationship Type="http://schemas.openxmlformats.org/officeDocument/2006/relationships/notesSlide" Target="/ppt/notesSlides/notesSlide2.xml" Id="Ra56e23f7e8584a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f1565c2c824e1a" /><Relationship Type="http://schemas.openxmlformats.org/officeDocument/2006/relationships/notesSlide" Target="/ppt/notesSlides/notesSlide3.xml" Id="R68b35adc67c84d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ce058e934f49f5" /><Relationship Type="http://schemas.openxmlformats.org/officeDocument/2006/relationships/image" Target="/ppt/media/image.png" Id="R3ebda8d2b8e24691" /><Relationship Type="http://schemas.openxmlformats.org/officeDocument/2006/relationships/image" Target="/ppt/media/image2.png" Id="Rc70a2f57aea54dee" /><Relationship Type="http://schemas.openxmlformats.org/officeDocument/2006/relationships/notesSlide" Target="/ppt/notesSlides/notesSlide4.xml" Id="Rac0d5bbee32940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48a399a4de4f23" /><Relationship Type="http://schemas.openxmlformats.org/officeDocument/2006/relationships/image" Target="/ppt/media/image3.png" Id="Rf3e4cea952b244ad" /><Relationship Type="http://schemas.openxmlformats.org/officeDocument/2006/relationships/notesSlide" Target="/ppt/notesSlides/notesSlide5.xml" Id="R8b432b53bd7a45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6A2A6-37C3-425F-BEAC-870AA7C9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4CED3-9E5B-44FD-9F18-690B6F1F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F80ED"/>
                </a:solidFill>
              </a:defRPr>
            </a:pPr>
            <a:r>
              <a:rPr sz="1125" b="1">
                <a:solidFill>
                  <a:srgbClr val="2F80ED"/>
                </a:solidFill>
              </a:rPr>
              <a:t>MACHINE LEARNING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6A8CD-30A3-4678-B7B2-CBA402AE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43"/>
                </a:solidFill>
              </a:defRPr>
            </a:pPr>
            <a:r>
              <a:rPr sz="3300" b="1">
                <a:solidFill>
                  <a:srgbClr val="102A43"/>
                </a:solidFill>
              </a:rPr>
              <a:t>Duplicate Question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C8D47-B979-422E-826E-A685408A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6A085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A085"/>
                </a:solidFill>
              </a:defRPr>
            </a:pPr>
            <a:r>
              <a:rPr sz="2100" b="1">
                <a:solidFill>
                  <a:srgbClr val="16A085"/>
                </a:solidFill>
              </a:rPr>
              <a:t>Using a Siamese Manhattan LSTM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507CC-7B33-445E-8F94-BD4A49F8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27D98"/>
                </a:solidFill>
              </a:defRPr>
            </a:pPr>
            <a:r>
              <a:rPr sz="1800" b="0">
                <a:solidFill>
                  <a:srgbClr val="627D98"/>
                </a:solidFill>
              </a:rPr>
              <a:t>A simple system for deciding whether two questions ask the same thing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CA0BB-CFA4-4944-B4D4-3BA41D8D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33500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66B22-3417-458C-86CD-EE364FE0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621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F80ED"/>
                </a:solidFill>
              </a:defRPr>
            </a:pPr>
            <a:r>
              <a:rPr sz="2100" b="1">
                <a:solidFill>
                  <a:srgbClr val="2F80ED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A8DA0-F7B0-41F3-AF0F-F1BBCCD3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same meaning?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BE2576-AB84-4930-95D4-20C6B9E0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16A085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6A085"/>
                </a:solidFill>
              </a:defRPr>
            </a:pPr>
            <a:r>
              <a:rPr sz="2100" b="1">
                <a:solidFill>
                  <a:srgbClr val="16A085"/>
                </a:solidFill>
              </a:rPr>
              <a:t>Q2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76E98-E984-454F-967B-C66150FC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27D98"/>
                </a:solidFill>
              </a:defRPr>
            </a:pPr>
            <a:r>
              <a:rPr sz="1275" b="0">
                <a:solidFill>
                  <a:srgbClr val="627D98"/>
                </a:solidFill>
              </a:rPr>
              <a:t>Presented to: Professor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FFB58-6A9E-47A6-9142-6EA6ABD6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Project presentation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24973-A094-4D42-AACD-21737B9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27D98"/>
                </a:solidFill>
              </a:defRPr>
            </a:pPr>
            <a:r>
              <a:rPr sz="900" b="0">
                <a:solidFill>
                  <a:srgbClr val="627D98"/>
                </a:solidFill>
              </a:rPr>
              <a:t>Duplicate Question Detection  |  1/5</a:t>
            </a:r>
          </a:p>
        </p:txBody>
      </p:sp>
    </p:spTree>
    <p:extLst>
      <p:ext uri="{BB962C8B-B14F-4D97-AF65-F5344CB8AC3E}">
        <p14:creationId xmlns:p14="http://schemas.microsoft.com/office/powerpoint/2010/main" val="6278818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B3AAFE-2C33-46AE-9E8E-CC551996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5A159-B0E9-4591-A142-A1600213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Problem, dataset, and preprocessing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B06CD-2150-4CDB-88C1-DBAF5B57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The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AA9C8-A489-491E-926E-42075B49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4423F-B3A9-45B1-A946-EEE3CBFC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Input: a pair of natural-language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FD03B-00D1-4A8B-B117-AEFA89BE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3514A-CB60-4ADF-8A9A-277B89C4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52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Output: duplicate (1) or different (0)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F9EBC-1A9E-4B9B-9F73-1B79B6D2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6605C-948C-4D5F-B8C6-4E5BE8F4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288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Goal: capture meaning, even when the words are different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8A763-83E0-4FED-9BFB-3191DC55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The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0EDD4-BA4A-4BD1-A435-46E9E8C6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28F6A-7747-4AC4-90C4-1ABFC892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Quora question-pair dataset with question1, question2, and is_duplicate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1DBB3-58DC-4191-A674-7CD3C436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5F880-5EEC-4E44-A2F5-589A0503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75% training, 10% validation from training, and 25%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F2615-B64B-4DE2-8528-9652736B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A2E1A7-4C83-4591-ADDD-674CE88C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672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101,073 saved test pairs; stratified split with seed 42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D7CAA0-40E3-4F3A-8A22-AE5DD10A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38250"/>
            <a:ext cx="2857500" cy="4000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0FC607-1D4E-4516-A77E-A2D94F12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71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Preprocessing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2F25BC-A2D0-4196-BC42-851DAAB3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43125"/>
            <a:ext cx="2095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Lowercase 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Remove stopwords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Porter stemming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Tokenize and pad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to 20 words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252BF3-C671-4CAE-95EB-D8DBC13F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27D98"/>
                </a:solidFill>
              </a:defRPr>
            </a:pPr>
            <a:r>
              <a:rPr sz="900" b="0">
                <a:solidFill>
                  <a:srgbClr val="627D98"/>
                </a:solidFill>
              </a:rPr>
              <a:t>Duplicate Question Detection  |  2/5</a:t>
            </a:r>
          </a:p>
        </p:txBody>
      </p:sp>
    </p:spTree>
    <p:extLst>
      <p:ext uri="{BB962C8B-B14F-4D97-AF65-F5344CB8AC3E}">
        <p14:creationId xmlns:p14="http://schemas.microsoft.com/office/powerpoint/2010/main" val="12788101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CAEF7C-0183-4F9C-9712-31897906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30ECC-7D41-4690-A3B8-CBE9D0F1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Siamese MaLSTM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188D8-11F2-41F5-8E79-19CFBF33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61691-E17F-428D-8794-0AA0B030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Question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235A1-DB76-4B49-A32C-EE9E91B8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DC2ED-979C-4A14-8F2B-CB46528C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4812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Question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66460-545A-4188-9970-D4BFEECA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19375"/>
            <a:ext cx="2190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0A8D9-7B9E-4E5D-9780-E21A6206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Shared LSTM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FAEF5-ACB3-4FE1-A060-FD073420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19375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1AA3B-F794-495B-BE05-94F7FC52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098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Similarity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1D1C7-0091-4AD7-9BA7-370B0B22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19375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CB69B-B709-47B5-8AE3-E836B3E7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09875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6A08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6A085"/>
                </a:solidFill>
              </a:defRPr>
            </a:pPr>
            <a:r>
              <a:rPr sz="1650" b="1">
                <a:solidFill>
                  <a:srgbClr val="16A085"/>
                </a:solidFill>
              </a:rPr>
              <a:t>Prediction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3B29D-5795-4FFA-BE53-905EAB87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904875" cy="8096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729D7-96F1-468A-9802-03B09FBB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904875" cy="10477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80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47BA8-2FC0-4CDF-A9AE-E972210A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48000"/>
            <a:ext cx="8096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74C2E-0F0B-49AF-87D7-19867430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80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9FE61D-98F7-499F-8828-37B37CEA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1906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627D98"/>
                </a:solidFill>
              </a:defRPr>
            </a:pPr>
            <a:r>
              <a:rPr sz="1575" b="0">
                <a:solidFill>
                  <a:srgbClr val="627D98"/>
                </a:solidFill>
              </a:rPr>
              <a:t>Both questions use the same network weights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82CD5-17A3-485F-8844-5A841E6B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482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F80ED"/>
                </a:solidFill>
              </a:defRPr>
            </a:pPr>
            <a:r>
              <a:rPr sz="1875" b="1">
                <a:solidFill>
                  <a:srgbClr val="2F80ED"/>
                </a:solidFill>
              </a:rPr>
              <a:t>Similarity = exp(− Manhattan distance)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92A359-73DE-49C6-B642-D9282E1A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150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27D98"/>
                </a:solidFill>
              </a:defRPr>
            </a:pPr>
            <a:r>
              <a:rPr sz="1350" b="0">
                <a:solidFill>
                  <a:srgbClr val="627D98"/>
                </a:solidFill>
              </a:rPr>
              <a:t>300d embeddings  |  50 LSTM units  |  threshold 0.5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834E6E-2554-4BEE-8B7E-808C511C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27D98"/>
                </a:solidFill>
              </a:defRPr>
            </a:pPr>
            <a:r>
              <a:rPr sz="900" b="0">
                <a:solidFill>
                  <a:srgbClr val="627D98"/>
                </a:solidFill>
              </a:rPr>
              <a:t>Duplicate Question Detection  |  3/5</a:t>
            </a:r>
          </a:p>
        </p:txBody>
      </p:sp>
    </p:spTree>
    <p:extLst>
      <p:ext uri="{BB962C8B-B14F-4D97-AF65-F5344CB8AC3E}">
        <p14:creationId xmlns:p14="http://schemas.microsoft.com/office/powerpoint/2010/main" val="20155097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DAA182-5D17-4242-B327-70265B20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8533A-9C7B-4562-8B23-D079CEA4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Results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CD0B1-9490-452C-94F4-6F3117B6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80ED"/>
                </a:solidFill>
              </a:defRPr>
            </a:pPr>
            <a:r>
              <a:rPr sz="1575" b="1">
                <a:solidFill>
                  <a:srgbClr val="2F80ED"/>
                </a:solidFill>
              </a:rPr>
              <a:t>Held-out test accuracy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F2E15-3351-402E-8CDD-3D4654AB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Google News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E5E07-52B5-48AD-85BD-69EDE158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4000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1D771-2F02-4207-8FBF-1B15126D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3817418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5C1B0-3EA8-4E96-AB75-38BAD86C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81.11%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A0270-869E-4065-AF0E-23EC8A54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FastText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45A91-2D9B-4810-BD35-3A5AF25B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4000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7EC27-C2BB-449A-B5AB-BF7D591A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3840009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31694-83B4-4992-A401-A27D774C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478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81.59%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1004B-5A96-44A1-9D2D-6B47D734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Subword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7FA50-D801-4341-8130-93E20260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19375"/>
            <a:ext cx="4000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F7494-D063-4D9A-927F-07D7095F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19375"/>
            <a:ext cx="3779767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87FC08-AD61-44A9-9F2B-54C2FDFD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80.31%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B02D2-0E99-476D-B4F1-6F19056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Original ensemble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FB5E0-E23B-48C0-956F-7E959DD2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4000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0F0DE1-304A-49CF-8D54-3FD78CB3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3850364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300B3-017B-4C03-9BE2-6E3040B5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956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81.81%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422CB-1C45-4253-87C1-886CA7BC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43B53"/>
                </a:solidFill>
              </a:defRPr>
            </a:pPr>
            <a:r>
              <a:rPr sz="1500" b="1">
                <a:solidFill>
                  <a:srgbClr val="243B53"/>
                </a:solidFill>
              </a:rPr>
              <a:t>Isotonic blend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B84A84-CE64-431B-81F3-43E1E9D4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4000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27EFFB-EFAD-4393-B4A5-58D3DDA7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3875779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BC6FEE-EF81-4082-9B05-7F63E03D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82.35%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4AE406-7AFD-45FD-BD78-3D619BBD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80ED"/>
                </a:solidFill>
              </a:defRPr>
            </a:pPr>
            <a:r>
              <a:rPr sz="1575" b="1">
                <a:solidFill>
                  <a:srgbClr val="2F80ED"/>
                </a:solidFill>
              </a:rPr>
              <a:t>What we measure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2711F9-464A-4970-8908-C507FE52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C2CA28-4707-4C6C-8C6D-09CB1628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053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Accuracy: overall correct predictions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BCC88F-0F22-42C0-88BB-4240C9D5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8FB795-B0D6-45DF-9C64-68115C24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340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Precision, recall, and F1: quality of duplicate detection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975EFD-3854-4AC3-A5A2-629E11D5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C3475F-270E-426C-8357-04B90335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62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Confusion matrix and calibration: where errors occur and how reliable scores are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47C847-1E69-42AB-9CA3-AA2D14820A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da8d2b8e24691"/>
          <a:stretch xmlns:a="http://schemas.openxmlformats.org/drawingml/2006/main"/>
        </p:blipFill>
        <p:spPr>
          <a:xfrm xmlns:a="http://schemas.openxmlformats.org/drawingml/2006/main">
            <a:off x="8239125" y="1284043"/>
            <a:ext cx="3333750" cy="2051538"/>
          </a:xfrm>
          <a:prstGeom xmlns:a="http://schemas.openxmlformats.org/drawingml/2006/main" prst="rect">
            <a:avLst/>
          </a:prstGeom>
        </p:spPr>
      </p:pic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9D8C52-7AC6-4FA2-8F74-14D8662023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a2f57aea54dee"/>
          <a:stretch xmlns:a="http://schemas.openxmlformats.org/drawingml/2006/main"/>
        </p:blipFill>
        <p:spPr>
          <a:xfrm xmlns:a="http://schemas.openxmlformats.org/drawingml/2006/main">
            <a:off x="8239125" y="4048125"/>
            <a:ext cx="3333750" cy="904875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D431CD-5237-423A-8247-9AA5861A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27D98"/>
                </a:solidFill>
              </a:defRPr>
            </a:pPr>
            <a:r>
              <a:rPr sz="900" b="0">
                <a:solidFill>
                  <a:srgbClr val="627D98"/>
                </a:solidFill>
              </a:rPr>
              <a:t>Duplicate Question Detection  |  4/5</a:t>
            </a:r>
          </a:p>
        </p:txBody>
      </p:sp>
    </p:spTree>
    <p:extLst>
      <p:ext uri="{BB962C8B-B14F-4D97-AF65-F5344CB8AC3E}">
        <p14:creationId xmlns:p14="http://schemas.microsoft.com/office/powerpoint/2010/main" val="21266200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C517E6-0320-408A-A89B-69910DC6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4499D-A6B7-4331-B21D-0C1F5360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Ensemble improvement and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66727-D166-48C5-9D7A-22332701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80ED"/>
                </a:solidFill>
              </a:defRPr>
            </a:pPr>
            <a:r>
              <a:rPr sz="1575" b="1">
                <a:solidFill>
                  <a:srgbClr val="2F80ED"/>
                </a:solidFill>
              </a:rPr>
              <a:t>Why combine models?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C2BF3-65B1-42BA-808C-8EF886B9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6F4D6-AEE6-4E11-AE3A-9CADE947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Each embedding sees language in a different 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94DE3-B1D3-4D47-98E6-542C3A65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C15E6-B2E1-4358-BAFC-D9376D3F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52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A weighted blend can reduce the weaknesses of one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B9A81-331D-4686-BBAF-54FC62BE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2CC56-B222-48AE-A360-5989C448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288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Calibration and threshold tuning improve the balance of errors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0ECB8-E79B-478E-A5E4-7F6CB6E8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762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67C77-DA2B-4E64-BD3D-2EDC03BB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6A085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A085"/>
                </a:solidFill>
              </a:defRPr>
            </a:pPr>
            <a:r>
              <a:rPr sz="1500" b="1">
                <a:solidFill>
                  <a:srgbClr val="16A085"/>
                </a:solidFill>
              </a:rPr>
              <a:t>Key finding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B4A27-4A18-480D-9130-1C7FD718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Original ensemble: 81.81%</a:t>
            </a:r>
          </a:p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Selected isotonic blend: 82.35%</a:t>
            </a:r>
          </a:p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Improvement: +0.54 percentage points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3AF75-3299-4C58-877A-75F3F7E4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47625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04A610-C6B0-4B74-86FB-3881D4E0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Conclusion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55E1B-72C5-40D8-855D-1E13E546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3905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• Siamese MaLSTM compares question meaning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• FastText gives the best single-model accuracy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• The ensemble improves the final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• Future work: test more architectures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C408B4-FC8E-416D-BF85-710DE369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 useful baseline for duplicate-question detection.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7E306-B240-4BAD-8828-D75064BE10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4cea952b244ad"/>
          <a:stretch xmlns:a="http://schemas.openxmlformats.org/drawingml/2006/main"/>
        </p:blipFill>
        <p:spPr>
          <a:xfrm xmlns:a="http://schemas.openxmlformats.org/drawingml/2006/main">
            <a:off x="2226469" y="5286375"/>
            <a:ext cx="1833563" cy="10001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15D089-C814-45A6-A59D-77E15C26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27D98"/>
                </a:solidFill>
              </a:defRPr>
            </a:pPr>
            <a:r>
              <a:rPr sz="900" b="0">
                <a:solidFill>
                  <a:srgbClr val="627D98"/>
                </a:solidFill>
              </a:rPr>
              <a:t>Duplicate Question Detection  |  5/5</a:t>
            </a:r>
          </a:p>
        </p:txBody>
      </p:sp>
    </p:spTree>
    <p:extLst>
      <p:ext uri="{BB962C8B-B14F-4D97-AF65-F5344CB8AC3E}">
        <p14:creationId xmlns:p14="http://schemas.microsoft.com/office/powerpoint/2010/main" val="7557789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2026-10-08T15:44:25.2020000Z</dcterms:created>
  <dcterms:modified xsi:type="dcterms:W3CDTF">2026-10-08T15:44:25.2030000Z</dcterms:modified>
</coreProperties>
</file>