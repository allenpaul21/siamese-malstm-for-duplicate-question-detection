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f099b18629445a" /><Relationship Type="http://schemas.openxmlformats.org/officeDocument/2006/relationships/extended-properties" Target="/docProps/app.xml" Id="Rbb0b316ceb714401" /><Relationship Type="http://schemas.openxmlformats.org/officeDocument/2006/relationships/officeDocument" Target="/ppt/presentation.xml" Id="R2188097fed774a03" /></Relationships>
</file>

<file path=ppt/presentation.xml><?xml version="1.0" encoding="utf-8"?>
<p:presentation xmlns:p="http://schemas.openxmlformats.org/presentationml/2006/main">
  <p:sldMasterIdLst>
    <p:sldMasterId xmlns:r="http://schemas.openxmlformats.org/officeDocument/2006/relationships" id="2147483648" r:id="R51d5a424364445d8"/>
  </p:sldMasterIdLst>
  <p:notesMasterIdLst>
    <p:notesMasterId xmlns:r="http://schemas.openxmlformats.org/officeDocument/2006/relationships" r:id="R45f0f409fdc740ba"/>
  </p:notesMasterIdLst>
  <p:sldIdLst>
    <p:sldId xmlns:r="http://schemas.openxmlformats.org/officeDocument/2006/relationships" id="256" r:id="Re208ad6f39fb4079"/>
    <p:sldId xmlns:r="http://schemas.openxmlformats.org/officeDocument/2006/relationships" id="257" r:id="R7485f3ed53a34b67"/>
    <p:sldId xmlns:r="http://schemas.openxmlformats.org/officeDocument/2006/relationships" id="258" r:id="R0bab891df0044335"/>
    <p:sldId xmlns:r="http://schemas.openxmlformats.org/officeDocument/2006/relationships" id="259" r:id="R3960222ecf3c4701"/>
    <p:sldId xmlns:r="http://schemas.openxmlformats.org/officeDocument/2006/relationships" id="260" r:id="R961c6f8529334d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f9c25108fa4685" /><Relationship Type="http://schemas.openxmlformats.org/officeDocument/2006/relationships/slideMaster" Target="/ppt/slideMasters/slideMaster1.xml" Id="R51d5a424364445d8" /><Relationship Type="http://schemas.openxmlformats.org/officeDocument/2006/relationships/notesMaster" Target="/ppt/notesMasters/notesMaster1.xml" Id="R45f0f409fdc740ba" /><Relationship Type="http://schemas.openxmlformats.org/officeDocument/2006/relationships/presProps" Target="/ppt/presProps.xml" Id="Rbd16de70edb04fe7" /><Relationship Type="http://schemas.openxmlformats.org/officeDocument/2006/relationships/tableStyles" Target="/ppt/tableStyles.xml" Id="Rc3396afa30cf4aac" /><Relationship Type="http://schemas.openxmlformats.org/officeDocument/2006/relationships/slide" Target="/ppt/slides/slide1.xml" Id="Re208ad6f39fb4079" /><Relationship Type="http://schemas.openxmlformats.org/officeDocument/2006/relationships/slide" Target="/ppt/slides/slide2.xml" Id="R7485f3ed53a34b67" /><Relationship Type="http://schemas.openxmlformats.org/officeDocument/2006/relationships/slide" Target="/ppt/slides/slide3.xml" Id="R0bab891df0044335" /><Relationship Type="http://schemas.openxmlformats.org/officeDocument/2006/relationships/slide" Target="/ppt/slides/slide4.xml" Id="R3960222ecf3c4701" /><Relationship Type="http://schemas.openxmlformats.org/officeDocument/2006/relationships/slide" Target="/ppt/slides/slide5.xml" Id="R961c6f8529334d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17810428ed41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ed42eda368412f" /><Relationship Type="http://schemas.openxmlformats.org/officeDocument/2006/relationships/notesMaster" Target="/ppt/notesMasters/notesMaster1.xml" Id="R6634c29040ab4f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1ac5856b3645f3" /><Relationship Type="http://schemas.openxmlformats.org/officeDocument/2006/relationships/notesMaster" Target="/ppt/notesMasters/notesMaster1.xml" Id="R09626e2aac9248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7c6e903e694ca8" /><Relationship Type="http://schemas.openxmlformats.org/officeDocument/2006/relationships/notesMaster" Target="/ppt/notesMasters/notesMaster1.xml" Id="R2bf3a4b0f83c47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1eb5e917324d53" /><Relationship Type="http://schemas.openxmlformats.org/officeDocument/2006/relationships/notesMaster" Target="/ppt/notesMasters/notesMaster1.xml" Id="R44745d3a481f4b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bca3a37e134589" /><Relationship Type="http://schemas.openxmlformats.org/officeDocument/2006/relationships/notesMaster" Target="/ppt/notesMasters/notesMaster1.xml" Id="R89c825c2e5214e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introduction. MaLSTM means Manhattan LSTM. We compare pairs of questions and return a binary decision. The example is illustrative, not a measured model prediction. Sources: DuplicateQuestion_MaLSTM/model.py and ensemble.py.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Dataset_train.csv and DuplicateQuestion_MaLSTM/model.py. The fitting split has 272,895 pairs, validation 30,322, and test 101,073. Together these total 404,290. Test splitting is stratified with seed 42. The validation set is the final 10% of the shuffled training portion. Missing questions become empty strings. Fit the vocabulary only on fitting data, excluding validation and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DuplicateQuestion_MaLSTM/model.py and ensemble.py. Three independent models use Google News, FastText Crawl, and FastText Subword embeddings. Each model shares its embedding layer and LSTM across the two question branches. Embeddings are frozen. LSTM has 50 units. Thirty epochs is inferred from the paper plots. LSTM units, optimizer, loss, and batch size are implementation choices. A raw score is a similarity score used for binary prediction and need not be a calibrated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DuplicateQuestion_MaLSTM/results/summary.csv, results/original/outputs/prepared.npz, ensemble_predictions.npy, and model.py REFERENCE table transcribed from ATML_RP.pdf Table 4. All metrics below are percentages on the original test set. Paper column gives paper-reported accuracy only. Original ensemble confusion matrix: actual nonduplicate/predicted nonduplicate 56,883; actual nonduplicate/predicted duplicate 6,874; actual duplicate/predicted nonduplicate 11,508; actual duplicate/predicted duplicate 25,808. Calibration curves compare mean score to actual duplicate frequency per bin. A curve on the diagonal indicates good calibration.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DuplicateQuestion_MaLSTM/results/tuned/comparison.csv and ensemble.py. Original blend weights: 0.33 Google, 0.33 FastText, 0.34 Subword. Isotonic weights: 0.30/0.45/0.25 and threshold 0.48. Validation selects isotonic blending. Its test accuracy gain is 0.539214 percentage points. Stacking achieves 82.3563 test accuracy but was not selected by validation. Calibration Brier score falls from 0.1341055 to 0.1273568, lower is better. Half the validation data fits calibration/stacking and half selects weights and thresholds. Original test metrics were already inspected, so extensions are exploratory. Paper reports 91.14%, which this project did not reproduce.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e54eed3a6e4f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5bf45fbd5d949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8ce47049e04b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1c837a303504b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a354902f524e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9c797f5e8540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B3C873-A1DA-4435-B26A-A569878AE1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CD9961-5D59-4F02-A2A1-96E74F743A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F9E65DF-DD4D-43B1-9406-0B118152B7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F35E5F-B640-40B4-865A-11D6E55A19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237DC8-4E19-4D96-82E2-39DD18552E6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4F8C70-E3CB-4003-A765-1BF4407F38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484710-0F27-43F6-9EA5-633705CBB0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23EB482-05E6-46A5-B8B5-BC6B0EF8579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9B6FA7-921F-4673-B5F6-EB094A219C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518F29-85D8-4065-80BC-CC16C7F4E3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8aa2232f394fb6" /><Relationship Type="http://schemas.openxmlformats.org/officeDocument/2006/relationships/slideLayout" Target="/ppt/slideLayouts/slideLayout1.xml" Id="R0fe3b05d7a474e83" /><Relationship Type="http://schemas.openxmlformats.org/officeDocument/2006/relationships/slideLayout" Target="/ppt/slideLayouts/slideLayout2.xml" Id="R9f1a10f8de89470f" /><Relationship Type="http://schemas.openxmlformats.org/officeDocument/2006/relationships/slideLayout" Target="/ppt/slideLayouts/slideLayout3.xml" Id="R041726400f574e4d" /><Relationship Type="http://schemas.openxmlformats.org/officeDocument/2006/relationships/slideLayout" Target="/ppt/slideLayouts/slideLayout4.xml" Id="R55e6e331f6e046b8" /><Relationship Type="http://schemas.openxmlformats.org/officeDocument/2006/relationships/slideLayout" Target="/ppt/slideLayouts/slideLayout5.xml" Id="Ra8db7f3a68f74093" /><Relationship Type="http://schemas.openxmlformats.org/officeDocument/2006/relationships/slideLayout" Target="/ppt/slideLayouts/slideLayout6.xml" Id="Rc640ae2618f240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e3b05d7a474e83"/>
    <p:sldLayoutId xmlns:r="http://schemas.openxmlformats.org/officeDocument/2006/relationships" id="2147483650" r:id="R9f1a10f8de89470f"/>
    <p:sldLayoutId xmlns:r="http://schemas.openxmlformats.org/officeDocument/2006/relationships" id="2147483651" r:id="R041726400f574e4d"/>
    <p:sldLayoutId xmlns:r="http://schemas.openxmlformats.org/officeDocument/2006/relationships" id="2147483652" r:id="R55e6e331f6e046b8"/>
    <p:sldLayoutId xmlns:r="http://schemas.openxmlformats.org/officeDocument/2006/relationships" id="2147483653" r:id="Ra8db7f3a68f74093"/>
    <p:sldLayoutId xmlns:r="http://schemas.openxmlformats.org/officeDocument/2006/relationships" id="2147483654" r:id="Rc640ae2618f240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cffc2e13ae47a8" /><Relationship Type="http://schemas.openxmlformats.org/officeDocument/2006/relationships/notesSlide" Target="/ppt/notesSlides/notesSlide1.xml" Id="Rc2af153af45b4f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69be2342ef4848" /><Relationship Type="http://schemas.openxmlformats.org/officeDocument/2006/relationships/notesSlide" Target="/ppt/notesSlides/notesSlide2.xml" Id="R14b4fbbd5fc040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2600421ec54496" /><Relationship Type="http://schemas.openxmlformats.org/officeDocument/2006/relationships/notesSlide" Target="/ppt/notesSlides/notesSlide3.xml" Id="R94c45013832b4f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d6686872f7847e2" /><Relationship Type="http://schemas.openxmlformats.org/officeDocument/2006/relationships/notesSlide" Target="/ppt/notesSlides/notesSlide4.xml" Id="Rb785c71da1b946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81fa7743b014742" /><Relationship Type="http://schemas.openxmlformats.org/officeDocument/2006/relationships/notesSlide" Target="/ppt/notesSlides/notesSlide5.xml" Id="R193b854497a34d9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B62D90-DE51-4A8B-B545-3C9B7EE775F6}"/>
              </a:ext>
            </a:extLst>
          </p:cNvPr>
          <p:cNvSpPr>
            <a:spLocks xmlns:a="http://schemas.openxmlformats.org/drawingml/2006/main" noGrp="1"/>
          </p:cNvSpPr>
          <p:nvPr/>
        </p:nvSpPr>
        <p:spPr>
          <a:xfrm xmlns:a="http://schemas.openxmlformats.org/drawingml/2006/main">
            <a:off x="7620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defRPr>
            </a:defPPr>
          </a:lstStyle>
          <a:p xmlns:a="http://schemas.openxmlformats.org/drawingml/2006/main">
            <a:pPr>
              <a:defRPr sz="3300" b="1">
                <a:solidFill>
                  <a:srgbClr val="16324F"/>
                </a:solidFill>
              </a:defRPr>
            </a:pPr>
            <a:r>
              <a:rPr sz="3300" b="1">
                <a:solidFill>
                  <a:srgbClr val="16324F"/>
                </a:solidFill>
              </a:rPr>
              <a:t>Duplicate Question Detection</a:t>
            </a:r>
          </a:p>
        </p:txBody>
      </p:sp>
      <p:sp>
        <p:nvSpPr>
          <p:cNvPr id="2" name="">
            <a:extLst xmlns:a="http://schemas.openxmlformats.org/drawingml/2006/main">
              <a:ext uri="{FF2B5EF4-FFF2-40B4-BE49-F238E27FC236}">
                <a16:creationId xmlns:a16="http://schemas.microsoft.com/office/drawing/2014/main" id="{995A63AB-957E-431C-87DA-D80C64F56BC4}"/>
              </a:ext>
            </a:extLst>
          </p:cNvPr>
          <p:cNvSpPr>
            <a:spLocks xmlns:a="http://schemas.openxmlformats.org/drawingml/2006/main" noGrp="1"/>
          </p:cNvSpPr>
          <p:nvPr/>
        </p:nvSpPr>
        <p:spPr>
          <a:xfrm xmlns:a="http://schemas.openxmlformats.org/drawingml/2006/main">
            <a:off x="110013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577"/>
                </a:solidFill>
              </a:defRPr>
            </a:defPPr>
          </a:lstStyle>
          <a:p xmlns:a="http://schemas.openxmlformats.org/drawingml/2006/main">
            <a:pPr>
              <a:defRPr sz="1200" b="0">
                <a:solidFill>
                  <a:srgbClr val="536577"/>
                </a:solidFill>
              </a:defRPr>
            </a:pPr>
            <a:r>
              <a:rPr sz="1200" b="0">
                <a:solidFill>
                  <a:srgbClr val="536577"/>
                </a:solidFill>
              </a:rPr>
              <a:t>01</a:t>
            </a:r>
          </a:p>
        </p:txBody>
      </p:sp>
      <p:sp>
        <p:nvSpPr>
          <p:cNvPr id="3" name="">
            <a:extLst xmlns:a="http://schemas.openxmlformats.org/drawingml/2006/main">
              <a:ext uri="{FF2B5EF4-FFF2-40B4-BE49-F238E27FC236}">
                <a16:creationId xmlns:a16="http://schemas.microsoft.com/office/drawing/2014/main" id="{F58BFCB2-0EC1-4674-ACA1-EB7AC618036B}"/>
              </a:ext>
            </a:extLst>
          </p:cNvPr>
          <p:cNvSpPr>
            <a:spLocks xmlns:a="http://schemas.openxmlformats.org/drawingml/2006/main" noGrp="1"/>
          </p:cNvSpPr>
          <p:nvPr/>
        </p:nvSpPr>
        <p:spPr>
          <a:xfrm xmlns:a="http://schemas.openxmlformats.org/drawingml/2006/main">
            <a:off x="762000" y="12573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463A6"/>
                </a:solidFill>
              </a:defRPr>
            </a:defPPr>
          </a:lstStyle>
          <a:p xmlns:a="http://schemas.openxmlformats.org/drawingml/2006/main">
            <a:pPr>
              <a:defRPr sz="2550" b="1">
                <a:solidFill>
                  <a:srgbClr val="2463A6"/>
                </a:solidFill>
              </a:defRPr>
            </a:pPr>
            <a:r>
              <a:rPr sz="2550" b="1">
                <a:solidFill>
                  <a:srgbClr val="2463A6"/>
                </a:solidFill>
              </a:rPr>
              <a:t>Using Siamese MaLSTM</a:t>
            </a:r>
          </a:p>
        </p:txBody>
      </p:sp>
      <p:sp>
        <p:nvSpPr>
          <p:cNvPr id="4" name="">
            <a:extLst xmlns:a="http://schemas.openxmlformats.org/drawingml/2006/main">
              <a:ext uri="{FF2B5EF4-FFF2-40B4-BE49-F238E27FC236}">
                <a16:creationId xmlns:a16="http://schemas.microsoft.com/office/drawing/2014/main" id="{264AB2E6-D5F5-4D57-AA73-28BAC7A0A4D9}"/>
              </a:ext>
            </a:extLst>
          </p:cNvPr>
          <p:cNvSpPr>
            <a:spLocks xmlns:a="http://schemas.openxmlformats.org/drawingml/2006/main" noGrp="1"/>
          </p:cNvSpPr>
          <p:nvPr/>
        </p:nvSpPr>
        <p:spPr>
          <a:xfrm xmlns:a="http://schemas.openxmlformats.org/drawingml/2006/main">
            <a:off x="762000" y="22479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63A6"/>
                </a:solidFill>
              </a:defRPr>
            </a:defPPr>
          </a:lstStyle>
          <a:p xmlns:a="http://schemas.openxmlformats.org/drawingml/2006/main">
            <a:pPr>
              <a:defRPr sz="2025" b="1">
                <a:solidFill>
                  <a:srgbClr val="2463A6"/>
                </a:solidFill>
              </a:defRPr>
            </a:pPr>
            <a:r>
              <a:rPr sz="2025" b="1">
                <a:solidFill>
                  <a:srgbClr val="2463A6"/>
                </a:solidFill>
              </a:rPr>
              <a:t>Objective</a:t>
            </a:r>
          </a:p>
        </p:txBody>
      </p:sp>
      <p:sp>
        <p:nvSpPr>
          <p:cNvPr id="5" name="">
            <a:extLst xmlns:a="http://schemas.openxmlformats.org/drawingml/2006/main">
              <a:ext uri="{FF2B5EF4-FFF2-40B4-BE49-F238E27FC236}">
                <a16:creationId xmlns:a16="http://schemas.microsoft.com/office/drawing/2014/main" id="{FF005754-D451-4F4E-AFB5-C3D42A5D1CB0}"/>
              </a:ext>
            </a:extLst>
          </p:cNvPr>
          <p:cNvSpPr>
            <a:spLocks xmlns:a="http://schemas.openxmlformats.org/drawingml/2006/main" noGrp="1"/>
          </p:cNvSpPr>
          <p:nvPr/>
        </p:nvSpPr>
        <p:spPr>
          <a:xfrm xmlns:a="http://schemas.openxmlformats.org/drawingml/2006/main">
            <a:off x="762000" y="2705100"/>
            <a:ext cx="10382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324F"/>
                </a:solidFill>
              </a:defRPr>
            </a:defPPr>
          </a:lstStyle>
          <a:p xmlns:a="http://schemas.openxmlformats.org/drawingml/2006/main">
            <a:pPr>
              <a:defRPr sz="2250" b="0">
                <a:solidFill>
                  <a:srgbClr val="16324F"/>
                </a:solidFill>
              </a:defRPr>
            </a:pPr>
            <a:r>
              <a:rPr sz="2250" b="0">
                <a:solidFill>
                  <a:srgbClr val="16324F"/>
                </a:solidFill>
              </a:rPr>
              <a:t>Identify questions that ask the same thing, even when their wording differs.</a:t>
            </a:r>
          </a:p>
        </p:txBody>
      </p:sp>
      <p:sp>
        <p:nvSpPr>
          <p:cNvPr id="6" name="">
            <a:extLst xmlns:a="http://schemas.openxmlformats.org/drawingml/2006/main">
              <a:ext uri="{FF2B5EF4-FFF2-40B4-BE49-F238E27FC236}">
                <a16:creationId xmlns:a16="http://schemas.microsoft.com/office/drawing/2014/main" id="{C381CE03-4E79-4512-BDBE-1D67692BEAD9}"/>
              </a:ext>
            </a:extLst>
          </p:cNvPr>
          <p:cNvSpPr>
            <a:spLocks xmlns:a="http://schemas.openxmlformats.org/drawingml/2006/main" noGrp="1"/>
          </p:cNvSpPr>
          <p:nvPr/>
        </p:nvSpPr>
        <p:spPr>
          <a:xfrm xmlns:a="http://schemas.openxmlformats.org/drawingml/2006/main">
            <a:off x="762000" y="40195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63A6"/>
                </a:solidFill>
              </a:defRPr>
            </a:defPPr>
          </a:lstStyle>
          <a:p xmlns:a="http://schemas.openxmlformats.org/drawingml/2006/main">
            <a:pPr>
              <a:defRPr sz="2025" b="1">
                <a:solidFill>
                  <a:srgbClr val="2463A6"/>
                </a:solidFill>
              </a:defRPr>
            </a:pPr>
            <a:r>
              <a:rPr sz="2025" b="1">
                <a:solidFill>
                  <a:srgbClr val="2463A6"/>
                </a:solidFill>
              </a:rPr>
              <a:t>Example of a duplicate pair</a:t>
            </a:r>
          </a:p>
        </p:txBody>
      </p:sp>
      <p:sp>
        <p:nvSpPr>
          <p:cNvPr id="7" name="">
            <a:extLst xmlns:a="http://schemas.openxmlformats.org/drawingml/2006/main">
              <a:ext uri="{FF2B5EF4-FFF2-40B4-BE49-F238E27FC236}">
                <a16:creationId xmlns:a16="http://schemas.microsoft.com/office/drawing/2014/main" id="{DEFB5665-B39D-46F9-8326-B244A8D78469}"/>
              </a:ext>
            </a:extLst>
          </p:cNvPr>
          <p:cNvSpPr>
            <a:spLocks xmlns:a="http://schemas.openxmlformats.org/drawingml/2006/main" noGrp="1"/>
          </p:cNvSpPr>
          <p:nvPr/>
        </p:nvSpPr>
        <p:spPr>
          <a:xfrm xmlns:a="http://schemas.openxmlformats.org/drawingml/2006/main">
            <a:off x="762000" y="44958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6324F"/>
                </a:solidFill>
              </a:defRPr>
            </a:defPPr>
          </a:lstStyle>
          <a:p xmlns:a="http://schemas.openxmlformats.org/drawingml/2006/main">
            <a:pPr>
              <a:defRPr sz="2250" b="0">
                <a:solidFill>
                  <a:srgbClr val="16324F"/>
                </a:solidFill>
              </a:defRPr>
            </a:pPr>
            <a:r>
              <a:rPr sz="2250" b="0">
                <a:solidFill>
                  <a:srgbClr val="16324F"/>
                </a:solidFill>
              </a:rPr>
              <a:t>“How can I learn Python?”</a:t>
            </a:r>
          </a:p>
          <a:p xmlns:a="http://schemas.openxmlformats.org/drawingml/2006/main">
            <a:pPr>
              <a:defRPr sz="2250" b="0">
                <a:solidFill>
                  <a:srgbClr val="16324F"/>
                </a:solidFill>
              </a:defRPr>
            </a:pPr>
            <a:r>
              <a:rPr sz="2250" b="0">
                <a:solidFill>
                  <a:srgbClr val="16324F"/>
                </a:solidFill>
              </a:rPr>
              <a:t>“What is the best way to learn Python?”</a:t>
            </a:r>
          </a:p>
        </p:txBody>
      </p:sp>
      <p:sp>
        <p:nvSpPr>
          <p:cNvPr id="8" name="">
            <a:extLst xmlns:a="http://schemas.openxmlformats.org/drawingml/2006/main">
              <a:ext uri="{FF2B5EF4-FFF2-40B4-BE49-F238E27FC236}">
                <a16:creationId xmlns:a16="http://schemas.microsoft.com/office/drawing/2014/main" id="{C4AE3CF8-9E33-4E58-9482-F604C2F84756}"/>
              </a:ext>
            </a:extLst>
          </p:cNvPr>
          <p:cNvSpPr>
            <a:spLocks xmlns:a="http://schemas.openxmlformats.org/drawingml/2006/main" noGrp="1"/>
          </p:cNvSpPr>
          <p:nvPr/>
        </p:nvSpPr>
        <p:spPr>
          <a:xfrm xmlns:a="http://schemas.openxmlformats.org/drawingml/2006/main">
            <a:off x="762000" y="58483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577"/>
                </a:solidFill>
              </a:defRPr>
            </a:defPPr>
          </a:lstStyle>
          <a:p xmlns:a="http://schemas.openxmlformats.org/drawingml/2006/main">
            <a:pPr>
              <a:defRPr sz="1800" b="0">
                <a:solidFill>
                  <a:srgbClr val="536577"/>
                </a:solidFill>
              </a:defRPr>
            </a:pPr>
            <a:r>
              <a:rPr sz="1800" b="0">
                <a:solidFill>
                  <a:srgbClr val="536577"/>
                </a:solidFill>
              </a:rPr>
              <a:t>Use case: group repeated questions and help users find existing answers.</a:t>
            </a:r>
          </a:p>
        </p:txBody>
      </p:sp>
    </p:spTree>
    <p:extLst>
      <p:ext uri="{BB962C8B-B14F-4D97-AF65-F5344CB8AC3E}">
        <p14:creationId xmlns:p14="http://schemas.microsoft.com/office/powerpoint/2010/main" val="11034626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17443DC-A27C-4752-91CF-C8642C7C4DDE}"/>
              </a:ext>
            </a:extLst>
          </p:cNvPr>
          <p:cNvSpPr>
            <a:spLocks xmlns:a="http://schemas.openxmlformats.org/drawingml/2006/main" noGrp="1"/>
          </p:cNvSpPr>
          <p:nvPr/>
        </p:nvSpPr>
        <p:spPr>
          <a:xfrm xmlns:a="http://schemas.openxmlformats.org/drawingml/2006/main">
            <a:off x="7620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defRPr>
            </a:defPPr>
          </a:lstStyle>
          <a:p xmlns:a="http://schemas.openxmlformats.org/drawingml/2006/main">
            <a:pPr>
              <a:defRPr sz="3300" b="1">
                <a:solidFill>
                  <a:srgbClr val="16324F"/>
                </a:solidFill>
              </a:defRPr>
            </a:pPr>
            <a:r>
              <a:rPr sz="3300" b="1">
                <a:solidFill>
                  <a:srgbClr val="16324F"/>
                </a:solidFill>
              </a:rPr>
              <a:t>Dataset and Preprocessing</a:t>
            </a:r>
          </a:p>
        </p:txBody>
      </p:sp>
      <p:sp>
        <p:nvSpPr>
          <p:cNvPr id="2" name="">
            <a:extLst xmlns:a="http://schemas.openxmlformats.org/drawingml/2006/main">
              <a:ext uri="{FF2B5EF4-FFF2-40B4-BE49-F238E27FC236}">
                <a16:creationId xmlns:a16="http://schemas.microsoft.com/office/drawing/2014/main" id="{8A6091B1-0A01-491C-9C59-DCE2220DCDB4}"/>
              </a:ext>
            </a:extLst>
          </p:cNvPr>
          <p:cNvSpPr>
            <a:spLocks xmlns:a="http://schemas.openxmlformats.org/drawingml/2006/main" noGrp="1"/>
          </p:cNvSpPr>
          <p:nvPr/>
        </p:nvSpPr>
        <p:spPr>
          <a:xfrm xmlns:a="http://schemas.openxmlformats.org/drawingml/2006/main">
            <a:off x="110013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577"/>
                </a:solidFill>
              </a:defRPr>
            </a:defPPr>
          </a:lstStyle>
          <a:p xmlns:a="http://schemas.openxmlformats.org/drawingml/2006/main">
            <a:pPr>
              <a:defRPr sz="1200" b="0">
                <a:solidFill>
                  <a:srgbClr val="536577"/>
                </a:solidFill>
              </a:defRPr>
            </a:pPr>
            <a:r>
              <a:rPr sz="1200" b="0">
                <a:solidFill>
                  <a:srgbClr val="536577"/>
                </a:solidFill>
              </a:rPr>
              <a:t>02</a:t>
            </a:r>
          </a:p>
        </p:txBody>
      </p:sp>
      <p:sp>
        <p:nvSpPr>
          <p:cNvPr id="3" name="">
            <a:extLst xmlns:a="http://schemas.openxmlformats.org/drawingml/2006/main">
              <a:ext uri="{FF2B5EF4-FFF2-40B4-BE49-F238E27FC236}">
                <a16:creationId xmlns:a16="http://schemas.microsoft.com/office/drawing/2014/main" id="{E57F5741-84AB-4A49-BC92-BA17AA52F193}"/>
              </a:ext>
            </a:extLst>
          </p:cNvPr>
          <p:cNvSpPr>
            <a:spLocks xmlns:a="http://schemas.openxmlformats.org/drawingml/2006/main" noGrp="1"/>
          </p:cNvSpPr>
          <p:nvPr/>
        </p:nvSpPr>
        <p:spPr>
          <a:xfrm xmlns:a="http://schemas.openxmlformats.org/drawingml/2006/main">
            <a:off x="762000" y="14097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463A6"/>
                </a:solidFill>
              </a:defRPr>
            </a:defPPr>
          </a:lstStyle>
          <a:p xmlns:a="http://schemas.openxmlformats.org/drawingml/2006/main">
            <a:pPr>
              <a:defRPr sz="2175" b="1">
                <a:solidFill>
                  <a:srgbClr val="2463A6"/>
                </a:solidFill>
              </a:defRPr>
            </a:pPr>
            <a:r>
              <a:rPr sz="2175" b="1">
                <a:solidFill>
                  <a:srgbClr val="2463A6"/>
                </a:solidFill>
              </a:rPr>
              <a:t>Quora question pairs</a:t>
            </a:r>
          </a:p>
        </p:txBody>
      </p:sp>
      <p:sp>
        <p:nvSpPr>
          <p:cNvPr id="4" name="">
            <a:extLst xmlns:a="http://schemas.openxmlformats.org/drawingml/2006/main">
              <a:ext uri="{FF2B5EF4-FFF2-40B4-BE49-F238E27FC236}">
                <a16:creationId xmlns:a16="http://schemas.microsoft.com/office/drawing/2014/main" id="{4F2A374F-2016-49F2-A32B-16225A0F1574}"/>
              </a:ext>
            </a:extLst>
          </p:cNvPr>
          <p:cNvSpPr>
            <a:spLocks xmlns:a="http://schemas.openxmlformats.org/drawingml/2006/main" noGrp="1"/>
          </p:cNvSpPr>
          <p:nvPr/>
        </p:nvSpPr>
        <p:spPr>
          <a:xfrm xmlns:a="http://schemas.openxmlformats.org/drawingml/2006/main">
            <a:off x="762000" y="1943100"/>
            <a:ext cx="4857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F"/>
                </a:solidFill>
              </a:defRPr>
            </a:defPPr>
          </a:lstStyle>
          <a:p xmlns:a="http://schemas.openxmlformats.org/drawingml/2006/main">
            <a:pPr>
              <a:defRPr sz="2025" b="0">
                <a:solidFill>
                  <a:srgbClr val="16324F"/>
                </a:solidFill>
              </a:defRPr>
            </a:pPr>
            <a:r>
              <a:rPr sz="2025" b="0">
                <a:solidFill>
                  <a:srgbClr val="16324F"/>
                </a:solidFill>
              </a:rPr>
              <a:t>404,290 labeled pairs</a:t>
            </a:r>
          </a:p>
          <a:p xmlns:a="http://schemas.openxmlformats.org/drawingml/2006/main">
            <a:r>
              <a:t/>
            </a:r>
          </a:p>
          <a:p xmlns:a="http://schemas.openxmlformats.org/drawingml/2006/main">
            <a:pPr>
              <a:defRPr sz="2025" b="0">
                <a:solidFill>
                  <a:srgbClr val="16324F"/>
                </a:solidFill>
              </a:defRPr>
            </a:pPr>
            <a:r>
              <a:rPr sz="2025" b="0">
                <a:solidFill>
                  <a:srgbClr val="16324F"/>
                </a:solidFill>
              </a:rPr>
              <a:t>Each row contains two questions.</a:t>
            </a:r>
          </a:p>
          <a:p xmlns:a="http://schemas.openxmlformats.org/drawingml/2006/main">
            <a:pPr>
              <a:defRPr sz="2025" b="0">
                <a:solidFill>
                  <a:srgbClr val="16324F"/>
                </a:solidFill>
              </a:defRPr>
            </a:pPr>
            <a:r>
              <a:rPr sz="2025" b="0">
                <a:solidFill>
                  <a:srgbClr val="16324F"/>
                </a:solidFill>
              </a:rPr>
              <a:t>1 = duplicate, 0 = different</a:t>
            </a:r>
          </a:p>
        </p:txBody>
      </p:sp>
      <p:sp>
        <p:nvSpPr>
          <p:cNvPr id="5" name="">
            <a:extLst xmlns:a="http://schemas.openxmlformats.org/drawingml/2006/main">
              <a:ext uri="{FF2B5EF4-FFF2-40B4-BE49-F238E27FC236}">
                <a16:creationId xmlns:a16="http://schemas.microsoft.com/office/drawing/2014/main" id="{D6F58CCC-EE37-4EA1-9496-2FEB295922FC}"/>
              </a:ext>
            </a:extLst>
          </p:cNvPr>
          <p:cNvSpPr>
            <a:spLocks xmlns:a="http://schemas.openxmlformats.org/drawingml/2006/main" noGrp="1"/>
          </p:cNvSpPr>
          <p:nvPr/>
        </p:nvSpPr>
        <p:spPr>
          <a:xfrm xmlns:a="http://schemas.openxmlformats.org/drawingml/2006/main">
            <a:off x="762000" y="419100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63A6"/>
                </a:solidFill>
              </a:defRPr>
            </a:defPPr>
          </a:lstStyle>
          <a:p xmlns:a="http://schemas.openxmlformats.org/drawingml/2006/main">
            <a:pPr>
              <a:defRPr sz="2025" b="1">
                <a:solidFill>
                  <a:srgbClr val="2463A6"/>
                </a:solidFill>
              </a:defRPr>
            </a:pPr>
            <a:r>
              <a:rPr sz="2025" b="1">
                <a:solidFill>
                  <a:srgbClr val="2463A6"/>
                </a:solidFill>
              </a:rPr>
              <a:t>Data split</a:t>
            </a:r>
          </a:p>
        </p:txBody>
      </p:sp>
      <p:sp>
        <p:nvSpPr>
          <p:cNvPr id="6" name="">
            <a:extLst xmlns:a="http://schemas.openxmlformats.org/drawingml/2006/main">
              <a:ext uri="{FF2B5EF4-FFF2-40B4-BE49-F238E27FC236}">
                <a16:creationId xmlns:a16="http://schemas.microsoft.com/office/drawing/2014/main" id="{2360D498-6D20-431F-B620-F1CCAFB23455}"/>
              </a:ext>
            </a:extLst>
          </p:cNvPr>
          <p:cNvSpPr>
            <a:spLocks xmlns:a="http://schemas.openxmlformats.org/drawingml/2006/main" noGrp="1"/>
          </p:cNvSpPr>
          <p:nvPr/>
        </p:nvSpPr>
        <p:spPr>
          <a:xfrm xmlns:a="http://schemas.openxmlformats.org/drawingml/2006/main">
            <a:off x="762000" y="466725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F"/>
                </a:solidFill>
              </a:defRPr>
            </a:defPPr>
          </a:lstStyle>
          <a:p xmlns:a="http://schemas.openxmlformats.org/drawingml/2006/main">
            <a:pPr>
              <a:defRPr sz="2025" b="0">
                <a:solidFill>
                  <a:srgbClr val="16324F"/>
                </a:solidFill>
              </a:defRPr>
            </a:pPr>
            <a:r>
              <a:rPr sz="2025" b="0">
                <a:solidFill>
                  <a:srgbClr val="16324F"/>
                </a:solidFill>
              </a:rPr>
              <a:t>Training: 272,895 pairs</a:t>
            </a:r>
          </a:p>
          <a:p xmlns:a="http://schemas.openxmlformats.org/drawingml/2006/main">
            <a:pPr>
              <a:defRPr sz="2025" b="0">
                <a:solidFill>
                  <a:srgbClr val="16324F"/>
                </a:solidFill>
              </a:defRPr>
            </a:pPr>
            <a:r>
              <a:rPr sz="2025" b="0">
                <a:solidFill>
                  <a:srgbClr val="16324F"/>
                </a:solidFill>
              </a:rPr>
              <a:t>Validation: 30,322 pairs</a:t>
            </a:r>
          </a:p>
          <a:p xmlns:a="http://schemas.openxmlformats.org/drawingml/2006/main">
            <a:pPr>
              <a:defRPr sz="2025" b="0">
                <a:solidFill>
                  <a:srgbClr val="16324F"/>
                </a:solidFill>
              </a:defRPr>
            </a:pPr>
            <a:r>
              <a:rPr sz="2025" b="0">
                <a:solidFill>
                  <a:srgbClr val="16324F"/>
                </a:solidFill>
              </a:rPr>
              <a:t>Test: 101,073 pairs</a:t>
            </a:r>
          </a:p>
        </p:txBody>
      </p:sp>
      <p:sp>
        <p:nvSpPr>
          <p:cNvPr id="7" name="">
            <a:extLst xmlns:a="http://schemas.openxmlformats.org/drawingml/2006/main">
              <a:ext uri="{FF2B5EF4-FFF2-40B4-BE49-F238E27FC236}">
                <a16:creationId xmlns:a16="http://schemas.microsoft.com/office/drawing/2014/main" id="{CF13F681-524E-427E-AAAA-00837FA7111B}"/>
              </a:ext>
            </a:extLst>
          </p:cNvPr>
          <p:cNvSpPr>
            <a:spLocks xmlns:a="http://schemas.openxmlformats.org/drawingml/2006/main" noGrp="1"/>
          </p:cNvSpPr>
          <p:nvPr/>
        </p:nvSpPr>
        <p:spPr>
          <a:xfrm xmlns:a="http://schemas.openxmlformats.org/drawingml/2006/main">
            <a:off x="6572250" y="140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463A6"/>
                </a:solidFill>
              </a:defRPr>
            </a:defPPr>
          </a:lstStyle>
          <a:p xmlns:a="http://schemas.openxmlformats.org/drawingml/2006/main">
            <a:pPr>
              <a:defRPr sz="2175" b="1">
                <a:solidFill>
                  <a:srgbClr val="2463A6"/>
                </a:solidFill>
              </a:defRPr>
            </a:pPr>
            <a:r>
              <a:rPr sz="2175" b="1">
                <a:solidFill>
                  <a:srgbClr val="2463A6"/>
                </a:solidFill>
              </a:rPr>
              <a:t>Text preparation</a:t>
            </a:r>
          </a:p>
        </p:txBody>
      </p:sp>
      <p:sp>
        <p:nvSpPr>
          <p:cNvPr id="8" name="">
            <a:extLst xmlns:a="http://schemas.openxmlformats.org/drawingml/2006/main">
              <a:ext uri="{FF2B5EF4-FFF2-40B4-BE49-F238E27FC236}">
                <a16:creationId xmlns:a16="http://schemas.microsoft.com/office/drawing/2014/main" id="{81712D08-538A-46B5-BAEF-2F8B035B80D9}"/>
              </a:ext>
            </a:extLst>
          </p:cNvPr>
          <p:cNvSpPr>
            <a:spLocks xmlns:a="http://schemas.openxmlformats.org/drawingml/2006/main" noGrp="1"/>
          </p:cNvSpPr>
          <p:nvPr/>
        </p:nvSpPr>
        <p:spPr>
          <a:xfrm xmlns:a="http://schemas.openxmlformats.org/drawingml/2006/main">
            <a:off x="6572250" y="1981200"/>
            <a:ext cx="4857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24F"/>
                </a:solidFill>
              </a:defRPr>
            </a:defPPr>
          </a:lstStyle>
          <a:p xmlns:a="http://schemas.openxmlformats.org/drawingml/2006/main">
            <a:pPr>
              <a:defRPr sz="1950" b="0">
                <a:solidFill>
                  <a:srgbClr val="16324F"/>
                </a:solidFill>
              </a:defRPr>
            </a:pPr>
            <a:r>
              <a:rPr sz="1950" b="0">
                <a:solidFill>
                  <a:srgbClr val="16324F"/>
                </a:solidFill>
              </a:rPr>
              <a:t>1. Convert text to lowercase</a:t>
            </a:r>
          </a:p>
          <a:p xmlns:a="http://schemas.openxmlformats.org/drawingml/2006/main">
            <a:r>
              <a:t/>
            </a:r>
          </a:p>
          <a:p xmlns:a="http://schemas.openxmlformats.org/drawingml/2006/main">
            <a:pPr>
              <a:defRPr sz="1950" b="0">
                <a:solidFill>
                  <a:srgbClr val="16324F"/>
                </a:solidFill>
              </a:defRPr>
            </a:pPr>
            <a:r>
              <a:rPr sz="1950" b="0">
                <a:solidFill>
                  <a:srgbClr val="16324F"/>
                </a:solidFill>
              </a:rPr>
              <a:t>2. Remove stopwords and stem words</a:t>
            </a:r>
          </a:p>
          <a:p xmlns:a="http://schemas.openxmlformats.org/drawingml/2006/main">
            <a:r>
              <a:t/>
            </a:r>
          </a:p>
          <a:p xmlns:a="http://schemas.openxmlformats.org/drawingml/2006/main">
            <a:pPr>
              <a:defRPr sz="1950" b="0">
                <a:solidFill>
                  <a:srgbClr val="16324F"/>
                </a:solidFill>
              </a:defRPr>
            </a:pPr>
            <a:r>
              <a:rPr sz="1950" b="0">
                <a:solidFill>
                  <a:srgbClr val="16324F"/>
                </a:solidFill>
              </a:rPr>
              <a:t>3. Convert words into token IDs</a:t>
            </a:r>
          </a:p>
          <a:p xmlns:a="http://schemas.openxmlformats.org/drawingml/2006/main">
            <a:r>
              <a:t/>
            </a:r>
          </a:p>
          <a:p xmlns:a="http://schemas.openxmlformats.org/drawingml/2006/main">
            <a:pPr>
              <a:defRPr sz="1950" b="0">
                <a:solidFill>
                  <a:srgbClr val="16324F"/>
                </a:solidFill>
              </a:defRPr>
            </a:pPr>
            <a:r>
              <a:rPr sz="1950" b="0">
                <a:solidFill>
                  <a:srgbClr val="16324F"/>
                </a:solidFill>
              </a:rPr>
              <a:t>4. Pad or trim to 20 tokens</a:t>
            </a:r>
          </a:p>
        </p:txBody>
      </p:sp>
      <p:sp>
        <p:nvSpPr>
          <p:cNvPr id="9" name="">
            <a:extLst xmlns:a="http://schemas.openxmlformats.org/drawingml/2006/main">
              <a:ext uri="{FF2B5EF4-FFF2-40B4-BE49-F238E27FC236}">
                <a16:creationId xmlns:a16="http://schemas.microsoft.com/office/drawing/2014/main" id="{9CF92621-21D1-4DCF-BB18-431F8B29AA47}"/>
              </a:ext>
            </a:extLst>
          </p:cNvPr>
          <p:cNvSpPr>
            <a:spLocks xmlns:a="http://schemas.openxmlformats.org/drawingml/2006/main" noGrp="1"/>
          </p:cNvSpPr>
          <p:nvPr/>
        </p:nvSpPr>
        <p:spPr>
          <a:xfrm xmlns:a="http://schemas.openxmlformats.org/drawingml/2006/main">
            <a:off x="6572250" y="544830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577"/>
                </a:solidFill>
              </a:defRPr>
            </a:defPPr>
          </a:lstStyle>
          <a:p xmlns:a="http://schemas.openxmlformats.org/drawingml/2006/main">
            <a:pPr>
              <a:defRPr sz="1875" b="0">
                <a:solidFill>
                  <a:srgbClr val="536577"/>
                </a:solidFill>
              </a:defRPr>
            </a:pPr>
            <a:r>
              <a:rPr sz="1875" b="0">
                <a:solidFill>
                  <a:srgbClr val="536577"/>
                </a:solidFill>
              </a:rPr>
              <a:t>The tokenizer learns only from training data.</a:t>
            </a:r>
          </a:p>
        </p:txBody>
      </p:sp>
    </p:spTree>
    <p:extLst>
      <p:ext uri="{BB962C8B-B14F-4D97-AF65-F5344CB8AC3E}">
        <p14:creationId xmlns:p14="http://schemas.microsoft.com/office/powerpoint/2010/main" val="16616082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EC41EC5-C897-460C-BF1A-F073161DB5F8}"/>
              </a:ext>
            </a:extLst>
          </p:cNvPr>
          <p:cNvSpPr>
            <a:spLocks xmlns:a="http://schemas.openxmlformats.org/drawingml/2006/main" noGrp="1"/>
          </p:cNvSpPr>
          <p:nvPr/>
        </p:nvSpPr>
        <p:spPr>
          <a:xfrm xmlns:a="http://schemas.openxmlformats.org/drawingml/2006/main">
            <a:off x="7620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defRPr>
            </a:defPPr>
          </a:lstStyle>
          <a:p xmlns:a="http://schemas.openxmlformats.org/drawingml/2006/main">
            <a:pPr>
              <a:defRPr sz="3300" b="1">
                <a:solidFill>
                  <a:srgbClr val="16324F"/>
                </a:solidFill>
              </a:defRPr>
            </a:pPr>
            <a:r>
              <a:rPr sz="3300" b="1">
                <a:solidFill>
                  <a:srgbClr val="16324F"/>
                </a:solidFill>
              </a:rPr>
              <a:t>Siamese MaLSTM Model</a:t>
            </a:r>
          </a:p>
        </p:txBody>
      </p:sp>
      <p:sp>
        <p:nvSpPr>
          <p:cNvPr id="2" name="">
            <a:extLst xmlns:a="http://schemas.openxmlformats.org/drawingml/2006/main">
              <a:ext uri="{FF2B5EF4-FFF2-40B4-BE49-F238E27FC236}">
                <a16:creationId xmlns:a16="http://schemas.microsoft.com/office/drawing/2014/main" id="{0ED544BA-A5A0-4629-9414-C7586AA13452}"/>
              </a:ext>
            </a:extLst>
          </p:cNvPr>
          <p:cNvSpPr>
            <a:spLocks xmlns:a="http://schemas.openxmlformats.org/drawingml/2006/main" noGrp="1"/>
          </p:cNvSpPr>
          <p:nvPr/>
        </p:nvSpPr>
        <p:spPr>
          <a:xfrm xmlns:a="http://schemas.openxmlformats.org/drawingml/2006/main">
            <a:off x="110013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577"/>
                </a:solidFill>
              </a:defRPr>
            </a:defPPr>
          </a:lstStyle>
          <a:p xmlns:a="http://schemas.openxmlformats.org/drawingml/2006/main">
            <a:pPr>
              <a:defRPr sz="1200" b="0">
                <a:solidFill>
                  <a:srgbClr val="536577"/>
                </a:solidFill>
              </a:defRPr>
            </a:pPr>
            <a:r>
              <a:rPr sz="1200" b="0">
                <a:solidFill>
                  <a:srgbClr val="536577"/>
                </a:solidFill>
              </a:rPr>
              <a:t>03</a:t>
            </a:r>
          </a:p>
        </p:txBody>
      </p:sp>
      <p:sp>
        <p:nvSpPr>
          <p:cNvPr id="3" name="">
            <a:extLst xmlns:a="http://schemas.openxmlformats.org/drawingml/2006/main">
              <a:ext uri="{FF2B5EF4-FFF2-40B4-BE49-F238E27FC236}">
                <a16:creationId xmlns:a16="http://schemas.microsoft.com/office/drawing/2014/main" id="{21E3E964-8D93-4A03-A023-A5645D29DBF4}"/>
              </a:ext>
            </a:extLst>
          </p:cNvPr>
          <p:cNvSpPr>
            <a:spLocks xmlns:a="http://schemas.openxmlformats.org/drawingml/2006/main" noGrp="1"/>
          </p:cNvSpPr>
          <p:nvPr/>
        </p:nvSpPr>
        <p:spPr>
          <a:xfrm xmlns:a="http://schemas.openxmlformats.org/drawingml/2006/main">
            <a:off x="762000" y="13811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463A6"/>
                </a:solidFill>
              </a:defRPr>
            </a:defPPr>
          </a:lstStyle>
          <a:p xmlns:a="http://schemas.openxmlformats.org/drawingml/2006/main">
            <a:pPr>
              <a:defRPr sz="2250" b="1">
                <a:solidFill>
                  <a:srgbClr val="2463A6"/>
                </a:solidFill>
              </a:defRPr>
            </a:pPr>
            <a:r>
              <a:rPr sz="2250" b="1">
                <a:solidFill>
                  <a:srgbClr val="2463A6"/>
                </a:solidFill>
              </a:rPr>
              <a:t>The same LSTM reads both questions</a:t>
            </a:r>
          </a:p>
        </p:txBody>
      </p:sp>
      <p:sp>
        <p:nvSpPr>
          <p:cNvPr id="4" name="">
            <a:extLst xmlns:a="http://schemas.openxmlformats.org/drawingml/2006/main">
              <a:ext uri="{FF2B5EF4-FFF2-40B4-BE49-F238E27FC236}">
                <a16:creationId xmlns:a16="http://schemas.microsoft.com/office/drawing/2014/main" id="{B63CA73E-9018-4C51-9D42-A2B460152664}"/>
              </a:ext>
            </a:extLst>
          </p:cNvPr>
          <p:cNvSpPr>
            <a:spLocks xmlns:a="http://schemas.openxmlformats.org/drawingml/2006/main" noGrp="1"/>
          </p:cNvSpPr>
          <p:nvPr/>
        </p:nvSpPr>
        <p:spPr>
          <a:xfrm xmlns:a="http://schemas.openxmlformats.org/drawingml/2006/main">
            <a:off x="762000" y="219075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324F"/>
                </a:solidFill>
              </a:defRPr>
            </a:defPPr>
          </a:lstStyle>
          <a:p xmlns:a="http://schemas.openxmlformats.org/drawingml/2006/main">
            <a:pPr>
              <a:defRPr sz="2025" b="1">
                <a:solidFill>
                  <a:srgbClr val="16324F"/>
                </a:solidFill>
              </a:defRPr>
            </a:pPr>
            <a:r>
              <a:rPr sz="2025" b="1">
                <a:solidFill>
                  <a:srgbClr val="16324F"/>
                </a:solidFill>
              </a:rPr>
              <a:t>1. Word embeddings</a:t>
            </a:r>
          </a:p>
        </p:txBody>
      </p:sp>
      <p:sp>
        <p:nvSpPr>
          <p:cNvPr id="5" name="">
            <a:extLst xmlns:a="http://schemas.openxmlformats.org/drawingml/2006/main">
              <a:ext uri="{FF2B5EF4-FFF2-40B4-BE49-F238E27FC236}">
                <a16:creationId xmlns:a16="http://schemas.microsoft.com/office/drawing/2014/main" id="{A725F997-6738-4CAE-AE88-0CAD152CF64B}"/>
              </a:ext>
            </a:extLst>
          </p:cNvPr>
          <p:cNvSpPr>
            <a:spLocks xmlns:a="http://schemas.openxmlformats.org/drawingml/2006/main" noGrp="1"/>
          </p:cNvSpPr>
          <p:nvPr/>
        </p:nvSpPr>
        <p:spPr>
          <a:xfrm xmlns:a="http://schemas.openxmlformats.org/drawingml/2006/main">
            <a:off x="4191000" y="2133600"/>
            <a:ext cx="723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F"/>
                </a:solidFill>
              </a:defRPr>
            </a:defPPr>
          </a:lstStyle>
          <a:p xmlns:a="http://schemas.openxmlformats.org/drawingml/2006/main">
            <a:pPr>
              <a:defRPr sz="2025" b="0">
                <a:solidFill>
                  <a:srgbClr val="16324F"/>
                </a:solidFill>
              </a:defRPr>
            </a:pPr>
            <a:r>
              <a:rPr sz="2025" b="0">
                <a:solidFill>
                  <a:srgbClr val="16324F"/>
                </a:solidFill>
              </a:rPr>
              <a:t>Represent each word using 300 numbers.</a:t>
            </a:r>
          </a:p>
          <a:p xmlns:a="http://schemas.openxmlformats.org/drawingml/2006/main">
            <a:pPr>
              <a:defRPr sz="2025" b="0">
                <a:solidFill>
                  <a:srgbClr val="16324F"/>
                </a:solidFill>
              </a:defRPr>
            </a:pPr>
            <a:r>
              <a:rPr sz="2025" b="0">
                <a:solidFill>
                  <a:srgbClr val="16324F"/>
                </a:solidFill>
              </a:rPr>
              <a:t>Compare Google News, FastText, and Subword.</a:t>
            </a:r>
          </a:p>
        </p:txBody>
      </p:sp>
      <p:sp>
        <p:nvSpPr>
          <p:cNvPr id="6" name="">
            <a:extLst xmlns:a="http://schemas.openxmlformats.org/drawingml/2006/main">
              <a:ext uri="{FF2B5EF4-FFF2-40B4-BE49-F238E27FC236}">
                <a16:creationId xmlns:a16="http://schemas.microsoft.com/office/drawing/2014/main" id="{81D066EC-9683-4804-BF4E-83A3EB954E4F}"/>
              </a:ext>
            </a:extLst>
          </p:cNvPr>
          <p:cNvSpPr>
            <a:spLocks xmlns:a="http://schemas.openxmlformats.org/drawingml/2006/main" noGrp="1"/>
          </p:cNvSpPr>
          <p:nvPr/>
        </p:nvSpPr>
        <p:spPr>
          <a:xfrm xmlns:a="http://schemas.openxmlformats.org/drawingml/2006/main">
            <a:off x="762000" y="338137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324F"/>
                </a:solidFill>
              </a:defRPr>
            </a:defPPr>
          </a:lstStyle>
          <a:p xmlns:a="http://schemas.openxmlformats.org/drawingml/2006/main">
            <a:pPr>
              <a:defRPr sz="2025" b="1">
                <a:solidFill>
                  <a:srgbClr val="16324F"/>
                </a:solidFill>
              </a:defRPr>
            </a:pPr>
            <a:r>
              <a:rPr sz="2025" b="1">
                <a:solidFill>
                  <a:srgbClr val="16324F"/>
                </a:solidFill>
              </a:rPr>
              <a:t>2. Shared LSTM</a:t>
            </a:r>
          </a:p>
        </p:txBody>
      </p:sp>
      <p:sp>
        <p:nvSpPr>
          <p:cNvPr id="7" name="">
            <a:extLst xmlns:a="http://schemas.openxmlformats.org/drawingml/2006/main">
              <a:ext uri="{FF2B5EF4-FFF2-40B4-BE49-F238E27FC236}">
                <a16:creationId xmlns:a16="http://schemas.microsoft.com/office/drawing/2014/main" id="{BF254CE1-19CC-4484-A663-3EF792A113B7}"/>
              </a:ext>
            </a:extLst>
          </p:cNvPr>
          <p:cNvSpPr>
            <a:spLocks xmlns:a="http://schemas.openxmlformats.org/drawingml/2006/main" noGrp="1"/>
          </p:cNvSpPr>
          <p:nvPr/>
        </p:nvSpPr>
        <p:spPr>
          <a:xfrm xmlns:a="http://schemas.openxmlformats.org/drawingml/2006/main">
            <a:off x="4191000" y="3324225"/>
            <a:ext cx="723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F"/>
                </a:solidFill>
              </a:defRPr>
            </a:defPPr>
          </a:lstStyle>
          <a:p xmlns:a="http://schemas.openxmlformats.org/drawingml/2006/main">
            <a:pPr>
              <a:defRPr sz="2025" b="0">
                <a:solidFill>
                  <a:srgbClr val="16324F"/>
                </a:solidFill>
              </a:defRPr>
            </a:pPr>
            <a:r>
              <a:rPr sz="2025" b="0">
                <a:solidFill>
                  <a:srgbClr val="16324F"/>
                </a:solidFill>
              </a:rPr>
              <a:t>Use the same 50-unit LSTM to create</a:t>
            </a:r>
          </a:p>
          <a:p xmlns:a="http://schemas.openxmlformats.org/drawingml/2006/main">
            <a:pPr>
              <a:defRPr sz="2025" b="0">
                <a:solidFill>
                  <a:srgbClr val="16324F"/>
                </a:solidFill>
              </a:defRPr>
            </a:pPr>
            <a:r>
              <a:rPr sz="2025" b="0">
                <a:solidFill>
                  <a:srgbClr val="16324F"/>
                </a:solidFill>
              </a:rPr>
              <a:t>a meaning vector for each question.</a:t>
            </a:r>
          </a:p>
        </p:txBody>
      </p:sp>
      <p:sp>
        <p:nvSpPr>
          <p:cNvPr id="8" name="">
            <a:extLst xmlns:a="http://schemas.openxmlformats.org/drawingml/2006/main">
              <a:ext uri="{FF2B5EF4-FFF2-40B4-BE49-F238E27FC236}">
                <a16:creationId xmlns:a16="http://schemas.microsoft.com/office/drawing/2014/main" id="{A04D755A-8C5E-4009-A6F3-FEFF99569418}"/>
              </a:ext>
            </a:extLst>
          </p:cNvPr>
          <p:cNvSpPr>
            <a:spLocks xmlns:a="http://schemas.openxmlformats.org/drawingml/2006/main" noGrp="1"/>
          </p:cNvSpPr>
          <p:nvPr/>
        </p:nvSpPr>
        <p:spPr>
          <a:xfrm xmlns:a="http://schemas.openxmlformats.org/drawingml/2006/main">
            <a:off x="762000" y="457200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324F"/>
                </a:solidFill>
              </a:defRPr>
            </a:defPPr>
          </a:lstStyle>
          <a:p xmlns:a="http://schemas.openxmlformats.org/drawingml/2006/main">
            <a:pPr>
              <a:defRPr sz="2025" b="1">
                <a:solidFill>
                  <a:srgbClr val="16324F"/>
                </a:solidFill>
              </a:defRPr>
            </a:pPr>
            <a:r>
              <a:rPr sz="2025" b="1">
                <a:solidFill>
                  <a:srgbClr val="16324F"/>
                </a:solidFill>
              </a:rPr>
              <a:t>3. Similarity and decision</a:t>
            </a:r>
          </a:p>
        </p:txBody>
      </p:sp>
      <p:sp>
        <p:nvSpPr>
          <p:cNvPr id="9" name="">
            <a:extLst xmlns:a="http://schemas.openxmlformats.org/drawingml/2006/main">
              <a:ext uri="{FF2B5EF4-FFF2-40B4-BE49-F238E27FC236}">
                <a16:creationId xmlns:a16="http://schemas.microsoft.com/office/drawing/2014/main" id="{2A60FC58-37B5-4862-83D1-800A2D562564}"/>
              </a:ext>
            </a:extLst>
          </p:cNvPr>
          <p:cNvSpPr>
            <a:spLocks xmlns:a="http://schemas.openxmlformats.org/drawingml/2006/main" noGrp="1"/>
          </p:cNvSpPr>
          <p:nvPr/>
        </p:nvSpPr>
        <p:spPr>
          <a:xfrm xmlns:a="http://schemas.openxmlformats.org/drawingml/2006/main">
            <a:off x="4191000" y="4514850"/>
            <a:ext cx="723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24F"/>
                </a:solidFill>
              </a:defRPr>
            </a:defPPr>
          </a:lstStyle>
          <a:p xmlns:a="http://schemas.openxmlformats.org/drawingml/2006/main">
            <a:pPr>
              <a:defRPr sz="2025" b="0">
                <a:solidFill>
                  <a:srgbClr val="16324F"/>
                </a:solidFill>
              </a:defRPr>
            </a:pPr>
            <a:r>
              <a:rPr sz="2025" b="0">
                <a:solidFill>
                  <a:srgbClr val="16324F"/>
                </a:solidFill>
              </a:rPr>
              <a:t>Compute exp(−sum(|h1 − h2|)).</a:t>
            </a:r>
          </a:p>
          <a:p xmlns:a="http://schemas.openxmlformats.org/drawingml/2006/main">
            <a:pPr>
              <a:defRPr sz="2025" b="0">
                <a:solidFill>
                  <a:srgbClr val="16324F"/>
                </a:solidFill>
              </a:defRPr>
            </a:pPr>
            <a:r>
              <a:rPr sz="2025" b="0">
                <a:solidFill>
                  <a:srgbClr val="16324F"/>
                </a:solidFill>
              </a:rPr>
              <a:t>Predict duplicate when the score exceeds 0.5.</a:t>
            </a:r>
          </a:p>
        </p:txBody>
      </p:sp>
      <p:sp>
        <p:nvSpPr>
          <p:cNvPr id="10" name="">
            <a:extLst xmlns:a="http://schemas.openxmlformats.org/drawingml/2006/main">
              <a:ext uri="{FF2B5EF4-FFF2-40B4-BE49-F238E27FC236}">
                <a16:creationId xmlns:a16="http://schemas.microsoft.com/office/drawing/2014/main" id="{7AC83810-43DD-4DC0-8149-BD3E5BAF1A03}"/>
              </a:ext>
            </a:extLst>
          </p:cNvPr>
          <p:cNvSpPr>
            <a:spLocks xmlns:a="http://schemas.openxmlformats.org/drawingml/2006/main" noGrp="1"/>
          </p:cNvSpPr>
          <p:nvPr/>
        </p:nvSpPr>
        <p:spPr>
          <a:xfrm xmlns:a="http://schemas.openxmlformats.org/drawingml/2006/main">
            <a:off x="762000" y="58674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577"/>
                </a:solidFill>
              </a:defRPr>
            </a:defPPr>
          </a:lstStyle>
          <a:p xmlns:a="http://schemas.openxmlformats.org/drawingml/2006/main">
            <a:pPr>
              <a:defRPr sz="1800" b="0">
                <a:solidFill>
                  <a:srgbClr val="536577"/>
                </a:solidFill>
              </a:defRPr>
            </a:pPr>
            <a:r>
              <a:rPr sz="1800" b="0">
                <a:solidFill>
                  <a:srgbClr val="536577"/>
                </a:solidFill>
              </a:rPr>
              <a:t>Training: Adam (0.001), binary cross-entropy, batch size 64, 30 epochs</a:t>
            </a:r>
          </a:p>
        </p:txBody>
      </p:sp>
    </p:spTree>
    <p:extLst>
      <p:ext uri="{BB962C8B-B14F-4D97-AF65-F5344CB8AC3E}">
        <p14:creationId xmlns:p14="http://schemas.microsoft.com/office/powerpoint/2010/main" val="15209620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BDAA7B-A3E1-404C-A626-1D50DD678975}"/>
              </a:ext>
            </a:extLst>
          </p:cNvPr>
          <p:cNvSpPr>
            <a:spLocks xmlns:a="http://schemas.openxmlformats.org/drawingml/2006/main" noGrp="1"/>
          </p:cNvSpPr>
          <p:nvPr/>
        </p:nvSpPr>
        <p:spPr>
          <a:xfrm xmlns:a="http://schemas.openxmlformats.org/drawingml/2006/main">
            <a:off x="7620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defRPr>
            </a:defPPr>
          </a:lstStyle>
          <a:p xmlns:a="http://schemas.openxmlformats.org/drawingml/2006/main">
            <a:pPr>
              <a:defRPr sz="3300" b="1">
                <a:solidFill>
                  <a:srgbClr val="16324F"/>
                </a:solidFill>
              </a:defRPr>
            </a:pPr>
            <a:r>
              <a:rPr sz="3300" b="1">
                <a:solidFill>
                  <a:srgbClr val="16324F"/>
                </a:solidFill>
              </a:rPr>
              <a:t>Results and Evaluation</a:t>
            </a:r>
          </a:p>
        </p:txBody>
      </p:sp>
      <p:sp>
        <p:nvSpPr>
          <p:cNvPr id="2" name="">
            <a:extLst xmlns:a="http://schemas.openxmlformats.org/drawingml/2006/main">
              <a:ext uri="{FF2B5EF4-FFF2-40B4-BE49-F238E27FC236}">
                <a16:creationId xmlns:a16="http://schemas.microsoft.com/office/drawing/2014/main" id="{AADC4A53-E385-419F-856F-D73FBFF5A1A9}"/>
              </a:ext>
            </a:extLst>
          </p:cNvPr>
          <p:cNvSpPr>
            <a:spLocks xmlns:a="http://schemas.openxmlformats.org/drawingml/2006/main" noGrp="1"/>
          </p:cNvSpPr>
          <p:nvPr/>
        </p:nvSpPr>
        <p:spPr>
          <a:xfrm xmlns:a="http://schemas.openxmlformats.org/drawingml/2006/main">
            <a:off x="110013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577"/>
                </a:solidFill>
              </a:defRPr>
            </a:defPPr>
          </a:lstStyle>
          <a:p xmlns:a="http://schemas.openxmlformats.org/drawingml/2006/main">
            <a:pPr>
              <a:defRPr sz="1200" b="0">
                <a:solidFill>
                  <a:srgbClr val="536577"/>
                </a:solidFill>
              </a:defRPr>
            </a:pPr>
            <a:r>
              <a:rPr sz="1200" b="0">
                <a:solidFill>
                  <a:srgbClr val="536577"/>
                </a:solidFill>
              </a:rPr>
              <a:t>04</a:t>
            </a:r>
          </a:p>
        </p:txBody>
      </p:sp>
      <p:sp>
        <p:nvSpPr>
          <p:cNvPr id="3" name="">
            <a:extLst xmlns:a="http://schemas.openxmlformats.org/drawingml/2006/main">
              <a:ext uri="{FF2B5EF4-FFF2-40B4-BE49-F238E27FC236}">
                <a16:creationId xmlns:a16="http://schemas.microsoft.com/office/drawing/2014/main" id="{E4E623D9-3EC4-4626-9010-AC772B8BF32A}"/>
              </a:ext>
            </a:extLst>
          </p:cNvPr>
          <p:cNvSpPr>
            <a:spLocks xmlns:a="http://schemas.openxmlformats.org/drawingml/2006/main" noGrp="1"/>
          </p:cNvSpPr>
          <p:nvPr/>
        </p:nvSpPr>
        <p:spPr>
          <a:xfrm xmlns:a="http://schemas.openxmlformats.org/drawingml/2006/main">
            <a:off x="762000" y="1333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63A6"/>
                </a:solidFill>
              </a:defRPr>
            </a:defPPr>
          </a:lstStyle>
          <a:p xmlns:a="http://schemas.openxmlformats.org/drawingml/2006/main">
            <a:pPr>
              <a:defRPr sz="2025" b="1">
                <a:solidFill>
                  <a:srgbClr val="2463A6"/>
                </a:solidFill>
              </a:defRPr>
            </a:pPr>
            <a:r>
              <a:rPr sz="2025" b="1">
                <a:solidFill>
                  <a:srgbClr val="2463A6"/>
                </a:solidFill>
              </a:rPr>
              <a:t>Original models: test metrics (%)</a:t>
            </a:r>
          </a:p>
        </p:txBody>
      </p:sp>
      <p:graphicFrame>
        <p:nvGraphicFramePr>
          <p:cNvPr id="4" name="">
            <a:extLst xmlns:a="http://schemas.openxmlformats.org/drawingml/2006/main">
              <a:ext uri="{FF2B5EF4-FFF2-40B4-BE49-F238E27FC236}">
                <a16:creationId xmlns:a16="http://schemas.microsoft.com/office/drawing/2014/main" id="{11038C08-F844-4F6A-9620-19BB5C24EEED}"/>
              </a:ext>
            </a:extLst>
          </p:cNvPr>
          <p:cNvGraphicFramePr/>
          <p:nvPr/>
        </p:nvGraphicFramePr>
        <p:xfrm>
          <a:off xmlns:a="http://schemas.openxmlformats.org/drawingml/2006/main" x="762000" y="1924050"/>
          <a:ext xmlns:a="http://schemas.openxmlformats.org/drawingml/2006/main" cx="10668000" cy="2476500"/>
        </p:xfrm>
        <a:graphic xmlns:a="http://schemas.openxmlformats.org/drawingml/2006/main">
          <a:graphicData uri="http://schemas.openxmlformats.org/drawingml/2006/table">
            <a:tbl>
              <a:tblPr/>
              <a:tblGrid>
                <a:gridCol w="2952750"/>
                <a:gridCol w="1543050"/>
                <a:gridCol w="1543050"/>
                <a:gridCol w="1543050"/>
                <a:gridCol w="1543050"/>
                <a:gridCol w="1543050"/>
              </a:tblGrid>
              <a:tr h="495300">
                <a:tc>
                  <a:txBody>
                    <a:bodyPr/>
                    <a:lstStyle/>
                    <a:p>
                      <a:pPr algn="l"/>
                      <a:r>
                        <a:rPr sz="1800" b="1">
                          <a:solidFill>
                            <a:srgbClr val="FFFFFF"/>
                          </a:solidFill>
                        </a:rPr>
                        <a:t>Model</a:t>
                      </a:r>
                    </a:p>
                  </a:txBody>
                  <a:tcPr marL="133350" marR="95250" marT="95250" marB="95250" anchor="ctr">
                    <a:solidFill>
                      <a:srgbClr val="16324F"/>
                    </a:solidFill>
                  </a:tcPr>
                </a:tc>
                <a:tc>
                  <a:txBody>
                    <a:bodyPr/>
                    <a:lstStyle/>
                    <a:p>
                      <a:pPr algn="ctr"/>
                      <a:r>
                        <a:rPr sz="1800" b="1">
                          <a:solidFill>
                            <a:srgbClr val="FFFFFF"/>
                          </a:solidFill>
                        </a:rPr>
                        <a:t>Accuracy</a:t>
                      </a:r>
                    </a:p>
                  </a:txBody>
                  <a:tcPr marL="133350" marR="95250" marT="95250" marB="95250" anchor="ctr">
                    <a:solidFill>
                      <a:srgbClr val="16324F"/>
                    </a:solidFill>
                  </a:tcPr>
                </a:tc>
                <a:tc>
                  <a:txBody>
                    <a:bodyPr/>
                    <a:lstStyle/>
                    <a:p>
                      <a:pPr algn="ctr"/>
                      <a:r>
                        <a:rPr sz="1800" b="1">
                          <a:solidFill>
                            <a:srgbClr val="FFFFFF"/>
                          </a:solidFill>
                        </a:rPr>
                        <a:t>Precision</a:t>
                      </a:r>
                    </a:p>
                  </a:txBody>
                  <a:tcPr marL="133350" marR="95250" marT="95250" marB="95250" anchor="ctr">
                    <a:solidFill>
                      <a:srgbClr val="16324F"/>
                    </a:solidFill>
                  </a:tcPr>
                </a:tc>
                <a:tc>
                  <a:txBody>
                    <a:bodyPr/>
                    <a:lstStyle/>
                    <a:p>
                      <a:pPr algn="ctr"/>
                      <a:r>
                        <a:rPr sz="1800" b="1">
                          <a:solidFill>
                            <a:srgbClr val="FFFFFF"/>
                          </a:solidFill>
                        </a:rPr>
                        <a:t>Recall</a:t>
                      </a:r>
                    </a:p>
                  </a:txBody>
                  <a:tcPr marL="133350" marR="95250" marT="95250" marB="95250" anchor="ctr">
                    <a:solidFill>
                      <a:srgbClr val="16324F"/>
                    </a:solidFill>
                  </a:tcPr>
                </a:tc>
                <a:tc>
                  <a:txBody>
                    <a:bodyPr/>
                    <a:lstStyle/>
                    <a:p>
                      <a:pPr algn="ctr"/>
                      <a:r>
                        <a:rPr sz="1800" b="1">
                          <a:solidFill>
                            <a:srgbClr val="FFFFFF"/>
                          </a:solidFill>
                        </a:rPr>
                        <a:t>F1</a:t>
                      </a:r>
                    </a:p>
                  </a:txBody>
                  <a:tcPr marL="133350" marR="95250" marT="95250" marB="95250" anchor="ctr">
                    <a:solidFill>
                      <a:srgbClr val="16324F"/>
                    </a:solidFill>
                  </a:tcPr>
                </a:tc>
                <a:tc>
                  <a:txBody>
                    <a:bodyPr/>
                    <a:lstStyle/>
                    <a:p>
                      <a:pPr algn="ctr"/>
                      <a:r>
                        <a:rPr sz="1800" b="1">
                          <a:solidFill>
                            <a:srgbClr val="FFFFFF"/>
                          </a:solidFill>
                        </a:rPr>
                        <a:t>Paper acc.</a:t>
                      </a:r>
                    </a:p>
                  </a:txBody>
                  <a:tcPr marL="133350" marR="95250" marT="95250" marB="95250" anchor="ctr">
                    <a:solidFill>
                      <a:srgbClr val="16324F"/>
                    </a:solidFill>
                  </a:tcPr>
                </a:tc>
              </a:tr>
              <a:tr h="495300">
                <a:tc>
                  <a:txBody>
                    <a:bodyPr/>
                    <a:lstStyle/>
                    <a:p>
                      <a:pPr algn="l"/>
                      <a:r>
                        <a:rPr sz="1800" b="0">
                          <a:solidFill>
                            <a:srgbClr val="16324F"/>
                          </a:solidFill>
                        </a:rPr>
                        <a:t>Google News</a:t>
                      </a:r>
                    </a:p>
                  </a:txBody>
                  <a:tcPr marL="133350" marR="95250" marT="95250" marB="95250" anchor="ctr">
                    <a:solidFill>
                      <a:srgbClr val="F0F5FA"/>
                    </a:solidFill>
                  </a:tcPr>
                </a:tc>
                <a:tc>
                  <a:txBody>
                    <a:bodyPr/>
                    <a:lstStyle/>
                    <a:p>
                      <a:pPr algn="ctr"/>
                      <a:r>
                        <a:rPr sz="1800" b="0">
                          <a:solidFill>
                            <a:srgbClr val="16324F"/>
                          </a:solidFill>
                        </a:rPr>
                        <a:t>81.11</a:t>
                      </a:r>
                    </a:p>
                  </a:txBody>
                  <a:tcPr marL="133350" marR="95250" marT="95250" marB="95250" anchor="ctr">
                    <a:solidFill>
                      <a:srgbClr val="F0F5FA"/>
                    </a:solidFill>
                  </a:tcPr>
                </a:tc>
                <a:tc>
                  <a:txBody>
                    <a:bodyPr/>
                    <a:lstStyle/>
                    <a:p>
                      <a:pPr algn="ctr"/>
                      <a:r>
                        <a:rPr sz="1800" b="0">
                          <a:solidFill>
                            <a:srgbClr val="16324F"/>
                          </a:solidFill>
                        </a:rPr>
                        <a:t>77.12</a:t>
                      </a:r>
                    </a:p>
                  </a:txBody>
                  <a:tcPr marL="133350" marR="95250" marT="95250" marB="95250" anchor="ctr">
                    <a:solidFill>
                      <a:srgbClr val="F0F5FA"/>
                    </a:solidFill>
                  </a:tcPr>
                </a:tc>
                <a:tc>
                  <a:txBody>
                    <a:bodyPr/>
                    <a:lstStyle/>
                    <a:p>
                      <a:pPr algn="ctr"/>
                      <a:r>
                        <a:rPr sz="1800" b="0">
                          <a:solidFill>
                            <a:srgbClr val="16324F"/>
                          </a:solidFill>
                        </a:rPr>
                        <a:t>69.45</a:t>
                      </a:r>
                    </a:p>
                  </a:txBody>
                  <a:tcPr marL="133350" marR="95250" marT="95250" marB="95250" anchor="ctr">
                    <a:solidFill>
                      <a:srgbClr val="F0F5FA"/>
                    </a:solidFill>
                  </a:tcPr>
                </a:tc>
                <a:tc>
                  <a:txBody>
                    <a:bodyPr/>
                    <a:lstStyle/>
                    <a:p>
                      <a:pPr algn="ctr"/>
                      <a:r>
                        <a:rPr sz="1800" b="0">
                          <a:solidFill>
                            <a:srgbClr val="16324F"/>
                          </a:solidFill>
                        </a:rPr>
                        <a:t>73.08</a:t>
                      </a:r>
                    </a:p>
                  </a:txBody>
                  <a:tcPr marL="133350" marR="95250" marT="95250" marB="95250" anchor="ctr">
                    <a:solidFill>
                      <a:srgbClr val="F0F5FA"/>
                    </a:solidFill>
                  </a:tcPr>
                </a:tc>
                <a:tc>
                  <a:txBody>
                    <a:bodyPr/>
                    <a:lstStyle/>
                    <a:p>
                      <a:pPr algn="ctr"/>
                      <a:r>
                        <a:rPr sz="1800" b="0">
                          <a:solidFill>
                            <a:srgbClr val="16324F"/>
                          </a:solidFill>
                        </a:rPr>
                        <a:t>81.77</a:t>
                      </a:r>
                    </a:p>
                  </a:txBody>
                  <a:tcPr marL="133350" marR="95250" marT="95250" marB="95250" anchor="ctr">
                    <a:solidFill>
                      <a:srgbClr val="F0F5FA"/>
                    </a:solidFill>
                  </a:tcPr>
                </a:tc>
              </a:tr>
              <a:tr h="495300">
                <a:tc>
                  <a:txBody>
                    <a:bodyPr/>
                    <a:lstStyle/>
                    <a:p>
                      <a:pPr algn="l"/>
                      <a:r>
                        <a:rPr sz="1800" b="0">
                          <a:solidFill>
                            <a:srgbClr val="16324F"/>
                          </a:solidFill>
                        </a:rPr>
                        <a:t>FastText</a:t>
                      </a:r>
                    </a:p>
                  </a:txBody>
                  <a:tcPr marL="133350" marR="95250" marT="95250" marB="95250" anchor="ctr">
                    <a:solidFill>
                      <a:srgbClr val="FFFFFF"/>
                    </a:solidFill>
                  </a:tcPr>
                </a:tc>
                <a:tc>
                  <a:txBody>
                    <a:bodyPr/>
                    <a:lstStyle/>
                    <a:p>
                      <a:pPr algn="ctr"/>
                      <a:r>
                        <a:rPr sz="1800" b="0">
                          <a:solidFill>
                            <a:srgbClr val="16324F"/>
                          </a:solidFill>
                        </a:rPr>
                        <a:t>81.59</a:t>
                      </a:r>
                    </a:p>
                  </a:txBody>
                  <a:tcPr marL="133350" marR="95250" marT="95250" marB="95250" anchor="ctr">
                    <a:solidFill>
                      <a:srgbClr val="FFFFFF"/>
                    </a:solidFill>
                  </a:tcPr>
                </a:tc>
                <a:tc>
                  <a:txBody>
                    <a:bodyPr/>
                    <a:lstStyle/>
                    <a:p>
                      <a:pPr algn="ctr"/>
                      <a:r>
                        <a:rPr sz="1800" b="0">
                          <a:solidFill>
                            <a:srgbClr val="16324F"/>
                          </a:solidFill>
                        </a:rPr>
                        <a:t>77.08</a:t>
                      </a:r>
                    </a:p>
                  </a:txBody>
                  <a:tcPr marL="133350" marR="95250" marT="95250" marB="95250" anchor="ctr">
                    <a:solidFill>
                      <a:srgbClr val="FFFFFF"/>
                    </a:solidFill>
                  </a:tcPr>
                </a:tc>
                <a:tc>
                  <a:txBody>
                    <a:bodyPr/>
                    <a:lstStyle/>
                    <a:p>
                      <a:pPr algn="ctr"/>
                      <a:r>
                        <a:rPr sz="1800" b="0">
                          <a:solidFill>
                            <a:srgbClr val="16324F"/>
                          </a:solidFill>
                        </a:rPr>
                        <a:t>71.35</a:t>
                      </a:r>
                    </a:p>
                  </a:txBody>
                  <a:tcPr marL="133350" marR="95250" marT="95250" marB="95250" anchor="ctr">
                    <a:solidFill>
                      <a:srgbClr val="FFFFFF"/>
                    </a:solidFill>
                  </a:tcPr>
                </a:tc>
                <a:tc>
                  <a:txBody>
                    <a:bodyPr/>
                    <a:lstStyle/>
                    <a:p>
                      <a:pPr algn="ctr"/>
                      <a:r>
                        <a:rPr sz="1800" b="0">
                          <a:solidFill>
                            <a:srgbClr val="16324F"/>
                          </a:solidFill>
                        </a:rPr>
                        <a:t>74.11</a:t>
                      </a:r>
                    </a:p>
                  </a:txBody>
                  <a:tcPr marL="133350" marR="95250" marT="95250" marB="95250" anchor="ctr">
                    <a:solidFill>
                      <a:srgbClr val="FFFFFF"/>
                    </a:solidFill>
                  </a:tcPr>
                </a:tc>
                <a:tc>
                  <a:txBody>
                    <a:bodyPr/>
                    <a:lstStyle/>
                    <a:p>
                      <a:pPr algn="ctr"/>
                      <a:r>
                        <a:rPr sz="1800" b="0">
                          <a:solidFill>
                            <a:srgbClr val="16324F"/>
                          </a:solidFill>
                        </a:rPr>
                        <a:t>82.77</a:t>
                      </a:r>
                    </a:p>
                  </a:txBody>
                  <a:tcPr marL="133350" marR="95250" marT="95250" marB="95250" anchor="ctr">
                    <a:solidFill>
                      <a:srgbClr val="FFFFFF"/>
                    </a:solidFill>
                  </a:tcPr>
                </a:tc>
              </a:tr>
              <a:tr h="495300">
                <a:tc>
                  <a:txBody>
                    <a:bodyPr/>
                    <a:lstStyle/>
                    <a:p>
                      <a:pPr algn="l"/>
                      <a:r>
                        <a:rPr sz="1800" b="0">
                          <a:solidFill>
                            <a:srgbClr val="16324F"/>
                          </a:solidFill>
                        </a:rPr>
                        <a:t>Subword</a:t>
                      </a:r>
                    </a:p>
                  </a:txBody>
                  <a:tcPr marL="133350" marR="95250" marT="95250" marB="95250" anchor="ctr">
                    <a:solidFill>
                      <a:srgbClr val="F0F5FA"/>
                    </a:solidFill>
                  </a:tcPr>
                </a:tc>
                <a:tc>
                  <a:txBody>
                    <a:bodyPr/>
                    <a:lstStyle/>
                    <a:p>
                      <a:pPr algn="ctr"/>
                      <a:r>
                        <a:rPr sz="1800" b="0">
                          <a:solidFill>
                            <a:srgbClr val="16324F"/>
                          </a:solidFill>
                        </a:rPr>
                        <a:t>80.31</a:t>
                      </a:r>
                    </a:p>
                  </a:txBody>
                  <a:tcPr marL="133350" marR="95250" marT="95250" marB="95250" anchor="ctr">
                    <a:solidFill>
                      <a:srgbClr val="F0F5FA"/>
                    </a:solidFill>
                  </a:tcPr>
                </a:tc>
                <a:tc>
                  <a:txBody>
                    <a:bodyPr/>
                    <a:lstStyle/>
                    <a:p>
                      <a:pPr algn="ctr"/>
                      <a:r>
                        <a:rPr sz="1800" b="0">
                          <a:solidFill>
                            <a:srgbClr val="16324F"/>
                          </a:solidFill>
                        </a:rPr>
                        <a:t>76.72</a:t>
                      </a:r>
                    </a:p>
                  </a:txBody>
                  <a:tcPr marL="133350" marR="95250" marT="95250" marB="95250" anchor="ctr">
                    <a:solidFill>
                      <a:srgbClr val="F0F5FA"/>
                    </a:solidFill>
                  </a:tcPr>
                </a:tc>
                <a:tc>
                  <a:txBody>
                    <a:bodyPr/>
                    <a:lstStyle/>
                    <a:p>
                      <a:pPr algn="ctr"/>
                      <a:r>
                        <a:rPr sz="1800" b="0">
                          <a:solidFill>
                            <a:srgbClr val="16324F"/>
                          </a:solidFill>
                        </a:rPr>
                        <a:t>67.01</a:t>
                      </a:r>
                    </a:p>
                  </a:txBody>
                  <a:tcPr marL="133350" marR="95250" marT="95250" marB="95250" anchor="ctr">
                    <a:solidFill>
                      <a:srgbClr val="F0F5FA"/>
                    </a:solidFill>
                  </a:tcPr>
                </a:tc>
                <a:tc>
                  <a:txBody>
                    <a:bodyPr/>
                    <a:lstStyle/>
                    <a:p>
                      <a:pPr algn="ctr"/>
                      <a:r>
                        <a:rPr sz="1800" b="0">
                          <a:solidFill>
                            <a:srgbClr val="16324F"/>
                          </a:solidFill>
                        </a:rPr>
                        <a:t>71.54</a:t>
                      </a:r>
                    </a:p>
                  </a:txBody>
                  <a:tcPr marL="133350" marR="95250" marT="95250" marB="95250" anchor="ctr">
                    <a:solidFill>
                      <a:srgbClr val="F0F5FA"/>
                    </a:solidFill>
                  </a:tcPr>
                </a:tc>
                <a:tc>
                  <a:txBody>
                    <a:bodyPr/>
                    <a:lstStyle/>
                    <a:p>
                      <a:pPr algn="ctr"/>
                      <a:r>
                        <a:rPr sz="1800" b="0">
                          <a:solidFill>
                            <a:srgbClr val="16324F"/>
                          </a:solidFill>
                        </a:rPr>
                        <a:t>82.57</a:t>
                      </a:r>
                    </a:p>
                  </a:txBody>
                  <a:tcPr marL="133350" marR="95250" marT="95250" marB="95250" anchor="ctr">
                    <a:solidFill>
                      <a:srgbClr val="F0F5FA"/>
                    </a:solidFill>
                  </a:tcPr>
                </a:tc>
              </a:tr>
              <a:tr h="495300">
                <a:tc>
                  <a:txBody>
                    <a:bodyPr/>
                    <a:lstStyle/>
                    <a:p>
                      <a:pPr algn="l"/>
                      <a:r>
                        <a:rPr sz="1800" b="0">
                          <a:solidFill>
                            <a:srgbClr val="16324F"/>
                          </a:solidFill>
                        </a:rPr>
                        <a:t>Original blend</a:t>
                      </a:r>
                    </a:p>
                  </a:txBody>
                  <a:tcPr marL="133350" marR="95250" marT="95250" marB="95250" anchor="ctr">
                    <a:solidFill>
                      <a:srgbClr val="FFFFFF"/>
                    </a:solidFill>
                  </a:tcPr>
                </a:tc>
                <a:tc>
                  <a:txBody>
                    <a:bodyPr/>
                    <a:lstStyle/>
                    <a:p>
                      <a:pPr algn="ctr"/>
                      <a:r>
                        <a:rPr sz="1800" b="0">
                          <a:solidFill>
                            <a:srgbClr val="16324F"/>
                          </a:solidFill>
                        </a:rPr>
                        <a:t>81.81</a:t>
                      </a:r>
                    </a:p>
                  </a:txBody>
                  <a:tcPr marL="133350" marR="95250" marT="95250" marB="95250" anchor="ctr">
                    <a:solidFill>
                      <a:srgbClr val="FFFFFF"/>
                    </a:solidFill>
                  </a:tcPr>
                </a:tc>
                <a:tc>
                  <a:txBody>
                    <a:bodyPr/>
                    <a:lstStyle/>
                    <a:p>
                      <a:pPr algn="ctr"/>
                      <a:r>
                        <a:rPr sz="1800" b="0">
                          <a:solidFill>
                            <a:srgbClr val="16324F"/>
                          </a:solidFill>
                        </a:rPr>
                        <a:t>78.97</a:t>
                      </a:r>
                    </a:p>
                  </a:txBody>
                  <a:tcPr marL="133350" marR="95250" marT="95250" marB="95250" anchor="ctr">
                    <a:solidFill>
                      <a:srgbClr val="FFFFFF"/>
                    </a:solidFill>
                  </a:tcPr>
                </a:tc>
                <a:tc>
                  <a:txBody>
                    <a:bodyPr/>
                    <a:lstStyle/>
                    <a:p>
                      <a:pPr algn="ctr"/>
                      <a:r>
                        <a:rPr sz="1800" b="0">
                          <a:solidFill>
                            <a:srgbClr val="16324F"/>
                          </a:solidFill>
                        </a:rPr>
                        <a:t>69.16</a:t>
                      </a:r>
                    </a:p>
                  </a:txBody>
                  <a:tcPr marL="133350" marR="95250" marT="95250" marB="95250" anchor="ctr">
                    <a:solidFill>
                      <a:srgbClr val="FFFFFF"/>
                    </a:solidFill>
                  </a:tcPr>
                </a:tc>
                <a:tc>
                  <a:txBody>
                    <a:bodyPr/>
                    <a:lstStyle/>
                    <a:p>
                      <a:pPr algn="ctr"/>
                      <a:r>
                        <a:rPr sz="1800" b="0">
                          <a:solidFill>
                            <a:srgbClr val="16324F"/>
                          </a:solidFill>
                        </a:rPr>
                        <a:t>73.74</a:t>
                      </a:r>
                    </a:p>
                  </a:txBody>
                  <a:tcPr marL="133350" marR="95250" marT="95250" marB="95250" anchor="ctr">
                    <a:solidFill>
                      <a:srgbClr val="FFFFFF"/>
                    </a:solidFill>
                  </a:tcPr>
                </a:tc>
                <a:tc>
                  <a:txBody>
                    <a:bodyPr/>
                    <a:lstStyle/>
                    <a:p>
                      <a:pPr algn="ctr"/>
                      <a:r>
                        <a:rPr sz="1800" b="0">
                          <a:solidFill>
                            <a:srgbClr val="16324F"/>
                          </a:solidFill>
                        </a:rPr>
                        <a:t>91.14</a:t>
                      </a:r>
                    </a:p>
                  </a:txBody>
                  <a:tcPr marL="133350" marR="9525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AC65C65-8224-4EC2-B5A1-4A871669B3D3}"/>
              </a:ext>
            </a:extLst>
          </p:cNvPr>
          <p:cNvSpPr>
            <a:spLocks xmlns:a="http://schemas.openxmlformats.org/drawingml/2006/main" noGrp="1"/>
          </p:cNvSpPr>
          <p:nvPr/>
        </p:nvSpPr>
        <p:spPr>
          <a:xfrm xmlns:a="http://schemas.openxmlformats.org/drawingml/2006/main">
            <a:off x="762000" y="4800600"/>
            <a:ext cx="533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463A6"/>
                </a:solidFill>
              </a:defRPr>
            </a:defPPr>
          </a:lstStyle>
          <a:p xmlns:a="http://schemas.openxmlformats.org/drawingml/2006/main">
            <a:pPr>
              <a:defRPr sz="1950" b="1">
                <a:solidFill>
                  <a:srgbClr val="2463A6"/>
                </a:solidFill>
              </a:defRPr>
            </a:pPr>
            <a:r>
              <a:rPr sz="1950" b="1">
                <a:solidFill>
                  <a:srgbClr val="2463A6"/>
                </a:solidFill>
              </a:rPr>
              <a:t>Confusion matrix: original blend</a:t>
            </a:r>
          </a:p>
        </p:txBody>
      </p:sp>
      <p:sp>
        <p:nvSpPr>
          <p:cNvPr id="6" name="">
            <a:extLst xmlns:a="http://schemas.openxmlformats.org/drawingml/2006/main">
              <a:ext uri="{FF2B5EF4-FFF2-40B4-BE49-F238E27FC236}">
                <a16:creationId xmlns:a16="http://schemas.microsoft.com/office/drawing/2014/main" id="{C2F41687-071D-427C-8A32-FF7BA49A4E4C}"/>
              </a:ext>
            </a:extLst>
          </p:cNvPr>
          <p:cNvSpPr>
            <a:spLocks xmlns:a="http://schemas.openxmlformats.org/drawingml/2006/main" noGrp="1"/>
          </p:cNvSpPr>
          <p:nvPr/>
        </p:nvSpPr>
        <p:spPr>
          <a:xfrm xmlns:a="http://schemas.openxmlformats.org/drawingml/2006/main">
            <a:off x="762000" y="52578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324F"/>
                </a:solidFill>
              </a:defRPr>
            </a:defPPr>
          </a:lstStyle>
          <a:p xmlns:a="http://schemas.openxmlformats.org/drawingml/2006/main">
            <a:pPr>
              <a:defRPr sz="1875" b="0">
                <a:solidFill>
                  <a:srgbClr val="16324F"/>
                </a:solidFill>
              </a:defRPr>
            </a:pPr>
            <a:r>
              <a:rPr sz="1875" b="0">
                <a:solidFill>
                  <a:srgbClr val="16324F"/>
                </a:solidFill>
              </a:rPr>
              <a:t>Correct: 82,691 of 101,073</a:t>
            </a:r>
          </a:p>
          <a:p xmlns:a="http://schemas.openxmlformats.org/drawingml/2006/main">
            <a:pPr>
              <a:defRPr sz="1875" b="0">
                <a:solidFill>
                  <a:srgbClr val="16324F"/>
                </a:solidFill>
              </a:defRPr>
            </a:pPr>
            <a:r>
              <a:rPr sz="1875" b="0">
                <a:solidFill>
                  <a:srgbClr val="16324F"/>
                </a:solidFill>
              </a:rPr>
              <a:t>False positives: 6,874</a:t>
            </a:r>
          </a:p>
          <a:p xmlns:a="http://schemas.openxmlformats.org/drawingml/2006/main">
            <a:pPr>
              <a:defRPr sz="1875" b="0">
                <a:solidFill>
                  <a:srgbClr val="16324F"/>
                </a:solidFill>
              </a:defRPr>
            </a:pPr>
            <a:r>
              <a:rPr sz="1875" b="0">
                <a:solidFill>
                  <a:srgbClr val="16324F"/>
                </a:solidFill>
              </a:rPr>
              <a:t>Missed duplicates: 11,508</a:t>
            </a:r>
          </a:p>
        </p:txBody>
      </p:sp>
      <p:sp>
        <p:nvSpPr>
          <p:cNvPr id="7" name="">
            <a:extLst xmlns:a="http://schemas.openxmlformats.org/drawingml/2006/main">
              <a:ext uri="{FF2B5EF4-FFF2-40B4-BE49-F238E27FC236}">
                <a16:creationId xmlns:a16="http://schemas.microsoft.com/office/drawing/2014/main" id="{F9DA5C6D-5234-4155-BA5A-F8940DA21B14}"/>
              </a:ext>
            </a:extLst>
          </p:cNvPr>
          <p:cNvSpPr>
            <a:spLocks xmlns:a="http://schemas.openxmlformats.org/drawingml/2006/main" noGrp="1"/>
          </p:cNvSpPr>
          <p:nvPr/>
        </p:nvSpPr>
        <p:spPr>
          <a:xfrm xmlns:a="http://schemas.openxmlformats.org/drawingml/2006/main">
            <a:off x="6858000" y="480060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463A6"/>
                </a:solidFill>
              </a:defRPr>
            </a:defPPr>
          </a:lstStyle>
          <a:p xmlns:a="http://schemas.openxmlformats.org/drawingml/2006/main">
            <a:pPr>
              <a:defRPr sz="1950" b="1">
                <a:solidFill>
                  <a:srgbClr val="2463A6"/>
                </a:solidFill>
              </a:defRPr>
            </a:pPr>
            <a:r>
              <a:rPr sz="1950" b="1">
                <a:solidFill>
                  <a:srgbClr val="2463A6"/>
                </a:solidFill>
              </a:rPr>
              <a:t>Calibration curves</a:t>
            </a:r>
          </a:p>
        </p:txBody>
      </p:sp>
      <p:sp>
        <p:nvSpPr>
          <p:cNvPr id="8" name="">
            <a:extLst xmlns:a="http://schemas.openxmlformats.org/drawingml/2006/main">
              <a:ext uri="{FF2B5EF4-FFF2-40B4-BE49-F238E27FC236}">
                <a16:creationId xmlns:a16="http://schemas.microsoft.com/office/drawing/2014/main" id="{36F59F4A-3E65-45FD-85E1-878EDDC81F97}"/>
              </a:ext>
            </a:extLst>
          </p:cNvPr>
          <p:cNvSpPr>
            <a:spLocks xmlns:a="http://schemas.openxmlformats.org/drawingml/2006/main" noGrp="1"/>
          </p:cNvSpPr>
          <p:nvPr/>
        </p:nvSpPr>
        <p:spPr>
          <a:xfrm xmlns:a="http://schemas.openxmlformats.org/drawingml/2006/main">
            <a:off x="6858000" y="5257800"/>
            <a:ext cx="457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324F"/>
                </a:solidFill>
              </a:defRPr>
            </a:defPPr>
          </a:lstStyle>
          <a:p xmlns:a="http://schemas.openxmlformats.org/drawingml/2006/main">
            <a:pPr>
              <a:defRPr sz="1875" b="0">
                <a:solidFill>
                  <a:srgbClr val="16324F"/>
                </a:solidFill>
              </a:defRPr>
            </a:pPr>
            <a:r>
              <a:rPr sz="1875" b="0">
                <a:solidFill>
                  <a:srgbClr val="16324F"/>
                </a:solidFill>
              </a:rPr>
              <a:t>Compare predicted scores with the</a:t>
            </a:r>
          </a:p>
          <a:p xmlns:a="http://schemas.openxmlformats.org/drawingml/2006/main">
            <a:pPr>
              <a:defRPr sz="1875" b="0">
                <a:solidFill>
                  <a:srgbClr val="16324F"/>
                </a:solidFill>
              </a:defRPr>
            </a:pPr>
            <a:r>
              <a:rPr sz="1875" b="0">
                <a:solidFill>
                  <a:srgbClr val="16324F"/>
                </a:solidFill>
              </a:rPr>
              <a:t>actual fraction of duplicate pairs.</a:t>
            </a:r>
          </a:p>
          <a:p xmlns:a="http://schemas.openxmlformats.org/drawingml/2006/main">
            <a:pPr>
              <a:defRPr sz="1875" b="0">
                <a:solidFill>
                  <a:srgbClr val="16324F"/>
                </a:solidFill>
              </a:defRPr>
            </a:pPr>
            <a:r>
              <a:rPr sz="1875" b="0">
                <a:solidFill>
                  <a:srgbClr val="16324F"/>
                </a:solidFill>
              </a:rPr>
              <a:t>Closer to the diagonal is better.</a:t>
            </a:r>
          </a:p>
        </p:txBody>
      </p:sp>
    </p:spTree>
    <p:extLst>
      <p:ext uri="{BB962C8B-B14F-4D97-AF65-F5344CB8AC3E}">
        <p14:creationId xmlns:p14="http://schemas.microsoft.com/office/powerpoint/2010/main" val="775696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90A11EB-6245-45F2-9408-018A04F612AB}"/>
              </a:ext>
            </a:extLst>
          </p:cNvPr>
          <p:cNvSpPr>
            <a:spLocks xmlns:a="http://schemas.openxmlformats.org/drawingml/2006/main" noGrp="1"/>
          </p:cNvSpPr>
          <p:nvPr/>
        </p:nvSpPr>
        <p:spPr>
          <a:xfrm xmlns:a="http://schemas.openxmlformats.org/drawingml/2006/main">
            <a:off x="762000" y="457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324F"/>
                </a:solidFill>
              </a:defRPr>
            </a:defPPr>
          </a:lstStyle>
          <a:p xmlns:a="http://schemas.openxmlformats.org/drawingml/2006/main">
            <a:pPr>
              <a:defRPr sz="3300" b="1">
                <a:solidFill>
                  <a:srgbClr val="16324F"/>
                </a:solidFill>
              </a:defRPr>
            </a:pPr>
            <a:r>
              <a:rPr sz="3300" b="1">
                <a:solidFill>
                  <a:srgbClr val="16324F"/>
                </a:solidFill>
              </a:rPr>
              <a:t>Ensemble Improvement and Conclusion</a:t>
            </a:r>
          </a:p>
        </p:txBody>
      </p:sp>
      <p:sp>
        <p:nvSpPr>
          <p:cNvPr id="2" name="">
            <a:extLst xmlns:a="http://schemas.openxmlformats.org/drawingml/2006/main">
              <a:ext uri="{FF2B5EF4-FFF2-40B4-BE49-F238E27FC236}">
                <a16:creationId xmlns:a16="http://schemas.microsoft.com/office/drawing/2014/main" id="{7A0A88D4-F94F-489F-9DFB-CC7C56090B31}"/>
              </a:ext>
            </a:extLst>
          </p:cNvPr>
          <p:cNvSpPr>
            <a:spLocks xmlns:a="http://schemas.openxmlformats.org/drawingml/2006/main" noGrp="1"/>
          </p:cNvSpPr>
          <p:nvPr/>
        </p:nvSpPr>
        <p:spPr>
          <a:xfrm xmlns:a="http://schemas.openxmlformats.org/drawingml/2006/main">
            <a:off x="1100137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577"/>
                </a:solidFill>
              </a:defRPr>
            </a:defPPr>
          </a:lstStyle>
          <a:p xmlns:a="http://schemas.openxmlformats.org/drawingml/2006/main">
            <a:pPr>
              <a:defRPr sz="1200" b="0">
                <a:solidFill>
                  <a:srgbClr val="536577"/>
                </a:solidFill>
              </a:defRPr>
            </a:pPr>
            <a:r>
              <a:rPr sz="1200" b="0">
                <a:solidFill>
                  <a:srgbClr val="536577"/>
                </a:solidFill>
              </a:rPr>
              <a:t>05</a:t>
            </a:r>
          </a:p>
        </p:txBody>
      </p:sp>
      <p:sp>
        <p:nvSpPr>
          <p:cNvPr id="3" name="">
            <a:extLst xmlns:a="http://schemas.openxmlformats.org/drawingml/2006/main">
              <a:ext uri="{FF2B5EF4-FFF2-40B4-BE49-F238E27FC236}">
                <a16:creationId xmlns:a16="http://schemas.microsoft.com/office/drawing/2014/main" id="{B4B38E72-CC14-4808-83A2-82F0D5744987}"/>
              </a:ext>
            </a:extLst>
          </p:cNvPr>
          <p:cNvSpPr>
            <a:spLocks xmlns:a="http://schemas.openxmlformats.org/drawingml/2006/main" noGrp="1"/>
          </p:cNvSpPr>
          <p:nvPr/>
        </p:nvSpPr>
        <p:spPr>
          <a:xfrm xmlns:a="http://schemas.openxmlformats.org/drawingml/2006/main">
            <a:off x="762000" y="1381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463A6"/>
                </a:solidFill>
              </a:defRPr>
            </a:defPPr>
          </a:lstStyle>
          <a:p xmlns:a="http://schemas.openxmlformats.org/drawingml/2006/main">
            <a:pPr>
              <a:defRPr sz="2175" b="1">
                <a:solidFill>
                  <a:srgbClr val="2463A6"/>
                </a:solidFill>
              </a:defRPr>
            </a:pPr>
            <a:r>
              <a:rPr sz="2175" b="1">
                <a:solidFill>
                  <a:srgbClr val="2463A6"/>
                </a:solidFill>
              </a:rPr>
              <a:t>Combine Google, FastText, and Subword predictions</a:t>
            </a:r>
          </a:p>
        </p:txBody>
      </p:sp>
      <p:graphicFrame>
        <p:nvGraphicFramePr>
          <p:cNvPr id="4" name="">
            <a:extLst xmlns:a="http://schemas.openxmlformats.org/drawingml/2006/main">
              <a:ext uri="{FF2B5EF4-FFF2-40B4-BE49-F238E27FC236}">
                <a16:creationId xmlns:a16="http://schemas.microsoft.com/office/drawing/2014/main" id="{97D1CBFF-9576-4BA5-8263-8265AE26D4A6}"/>
              </a:ext>
            </a:extLst>
          </p:cNvPr>
          <p:cNvGraphicFramePr/>
          <p:nvPr/>
        </p:nvGraphicFramePr>
        <p:xfrm>
          <a:off xmlns:a="http://schemas.openxmlformats.org/drawingml/2006/main" x="762000" y="1962150"/>
          <a:ext xmlns:a="http://schemas.openxmlformats.org/drawingml/2006/main" cx="10668000" cy="2143125"/>
        </p:xfrm>
        <a:graphic xmlns:a="http://schemas.openxmlformats.org/drawingml/2006/main">
          <a:graphicData uri="http://schemas.openxmlformats.org/drawingml/2006/table">
            <a:tbl>
              <a:tblPr/>
              <a:tblGrid>
                <a:gridCol w="5715000"/>
                <a:gridCol w="2476500"/>
                <a:gridCol w="2476500"/>
              </a:tblGrid>
              <a:tr h="535781">
                <a:tc>
                  <a:txBody>
                    <a:bodyPr/>
                    <a:lstStyle/>
                    <a:p>
                      <a:pPr algn="l"/>
                      <a:r>
                        <a:rPr sz="1800" b="1">
                          <a:solidFill>
                            <a:srgbClr val="FFFFFF"/>
                          </a:solidFill>
                        </a:rPr>
                        <a:t>Approach</a:t>
                      </a:r>
                    </a:p>
                  </a:txBody>
                  <a:tcPr marL="133350" marR="95250" marT="95250" marB="95250" anchor="ctr">
                    <a:solidFill>
                      <a:srgbClr val="16324F"/>
                    </a:solidFill>
                  </a:tcPr>
                </a:tc>
                <a:tc>
                  <a:txBody>
                    <a:bodyPr/>
                    <a:lstStyle/>
                    <a:p>
                      <a:pPr algn="ctr"/>
                      <a:r>
                        <a:rPr sz="1800" b="1">
                          <a:solidFill>
                            <a:srgbClr val="FFFFFF"/>
                          </a:solidFill>
                        </a:rPr>
                        <a:t>Test accuracy</a:t>
                      </a:r>
                    </a:p>
                  </a:txBody>
                  <a:tcPr marL="133350" marR="95250" marT="95250" marB="95250" anchor="ctr">
                    <a:solidFill>
                      <a:srgbClr val="16324F"/>
                    </a:solidFill>
                  </a:tcPr>
                </a:tc>
                <a:tc>
                  <a:txBody>
                    <a:bodyPr/>
                    <a:lstStyle/>
                    <a:p>
                      <a:pPr algn="ctr"/>
                      <a:r>
                        <a:rPr sz="1800" b="1">
                          <a:solidFill>
                            <a:srgbClr val="FFFFFF"/>
                          </a:solidFill>
                        </a:rPr>
                        <a:t>Change</a:t>
                      </a:r>
                    </a:p>
                  </a:txBody>
                  <a:tcPr marL="133350" marR="95250" marT="95250" marB="95250" anchor="ctr">
                    <a:solidFill>
                      <a:srgbClr val="16324F"/>
                    </a:solidFill>
                  </a:tcPr>
                </a:tc>
              </a:tr>
              <a:tr h="535781">
                <a:tc>
                  <a:txBody>
                    <a:bodyPr/>
                    <a:lstStyle/>
                    <a:p>
                      <a:pPr algn="l"/>
                      <a:r>
                        <a:rPr sz="1800" b="0">
                          <a:solidFill>
                            <a:srgbClr val="16324F"/>
                          </a:solidFill>
                        </a:rPr>
                        <a:t>Original fixed blend</a:t>
                      </a:r>
                    </a:p>
                  </a:txBody>
                  <a:tcPr marL="133350" marR="95250" marT="95250" marB="95250" anchor="ctr">
                    <a:solidFill>
                      <a:srgbClr val="F0F5FA"/>
                    </a:solidFill>
                  </a:tcPr>
                </a:tc>
                <a:tc>
                  <a:txBody>
                    <a:bodyPr/>
                    <a:lstStyle/>
                    <a:p>
                      <a:pPr algn="ctr"/>
                      <a:r>
                        <a:rPr sz="1800" b="0">
                          <a:solidFill>
                            <a:srgbClr val="16324F"/>
                          </a:solidFill>
                        </a:rPr>
                        <a:t>81.81%</a:t>
                      </a:r>
                    </a:p>
                  </a:txBody>
                  <a:tcPr marL="133350" marR="95250" marT="95250" marB="95250" anchor="ctr">
                    <a:solidFill>
                      <a:srgbClr val="F0F5FA"/>
                    </a:solidFill>
                  </a:tcPr>
                </a:tc>
                <a:tc>
                  <a:txBody>
                    <a:bodyPr/>
                    <a:lstStyle/>
                    <a:p>
                      <a:pPr algn="ctr"/>
                      <a:r>
                        <a:rPr sz="1800" b="0">
                          <a:solidFill>
                            <a:srgbClr val="16324F"/>
                          </a:solidFill>
                        </a:rPr>
                        <a:t>Baseline</a:t>
                      </a:r>
                    </a:p>
                  </a:txBody>
                  <a:tcPr marL="133350" marR="95250" marT="95250" marB="95250" anchor="ctr">
                    <a:solidFill>
                      <a:srgbClr val="F0F5FA"/>
                    </a:solidFill>
                  </a:tcPr>
                </a:tc>
              </a:tr>
              <a:tr h="535781">
                <a:tc>
                  <a:txBody>
                    <a:bodyPr/>
                    <a:lstStyle/>
                    <a:p>
                      <a:pPr algn="l"/>
                      <a:r>
                        <a:rPr sz="1800" b="0">
                          <a:solidFill>
                            <a:srgbClr val="16324F"/>
                          </a:solidFill>
                        </a:rPr>
                        <a:t>Threshold tuning</a:t>
                      </a:r>
                    </a:p>
                  </a:txBody>
                  <a:tcPr marL="133350" marR="95250" marT="95250" marB="95250" anchor="ctr">
                    <a:solidFill>
                      <a:srgbClr val="FFFFFF"/>
                    </a:solidFill>
                  </a:tcPr>
                </a:tc>
                <a:tc>
                  <a:txBody>
                    <a:bodyPr/>
                    <a:lstStyle/>
                    <a:p>
                      <a:pPr algn="ctr"/>
                      <a:r>
                        <a:rPr sz="1800" b="0">
                          <a:solidFill>
                            <a:srgbClr val="16324F"/>
                          </a:solidFill>
                        </a:rPr>
                        <a:t>82.34%</a:t>
                      </a:r>
                    </a:p>
                  </a:txBody>
                  <a:tcPr marL="133350" marR="95250" marT="95250" marB="95250" anchor="ctr">
                    <a:solidFill>
                      <a:srgbClr val="FFFFFF"/>
                    </a:solidFill>
                  </a:tcPr>
                </a:tc>
                <a:tc>
                  <a:txBody>
                    <a:bodyPr/>
                    <a:lstStyle/>
                    <a:p>
                      <a:pPr algn="ctr"/>
                      <a:r>
                        <a:rPr sz="1800" b="0">
                          <a:solidFill>
                            <a:srgbClr val="16324F"/>
                          </a:solidFill>
                        </a:rPr>
                        <a:t>+0.53 pp</a:t>
                      </a:r>
                    </a:p>
                  </a:txBody>
                  <a:tcPr marL="133350" marR="95250" marT="95250" marB="95250" anchor="ctr">
                    <a:solidFill>
                      <a:srgbClr val="FFFFFF"/>
                    </a:solidFill>
                  </a:tcPr>
                </a:tc>
              </a:tr>
              <a:tr h="535781">
                <a:tc>
                  <a:txBody>
                    <a:bodyPr/>
                    <a:lstStyle/>
                    <a:p>
                      <a:pPr algn="l"/>
                      <a:r>
                        <a:rPr sz="1800" b="0">
                          <a:solidFill>
                            <a:srgbClr val="16324F"/>
                          </a:solidFill>
                        </a:rPr>
                        <a:t>Isotonic blend*</a:t>
                      </a:r>
                    </a:p>
                  </a:txBody>
                  <a:tcPr marL="133350" marR="95250" marT="95250" marB="95250" anchor="ctr">
                    <a:solidFill>
                      <a:srgbClr val="F0F5FA"/>
                    </a:solidFill>
                  </a:tcPr>
                </a:tc>
                <a:tc>
                  <a:txBody>
                    <a:bodyPr/>
                    <a:lstStyle/>
                    <a:p>
                      <a:pPr algn="ctr"/>
                      <a:r>
                        <a:rPr sz="1800" b="0">
                          <a:solidFill>
                            <a:srgbClr val="16324F"/>
                          </a:solidFill>
                        </a:rPr>
                        <a:t>82.35%</a:t>
                      </a:r>
                    </a:p>
                  </a:txBody>
                  <a:tcPr marL="133350" marR="95250" marT="95250" marB="95250" anchor="ctr">
                    <a:solidFill>
                      <a:srgbClr val="F0F5FA"/>
                    </a:solidFill>
                  </a:tcPr>
                </a:tc>
                <a:tc>
                  <a:txBody>
                    <a:bodyPr/>
                    <a:lstStyle/>
                    <a:p>
                      <a:pPr algn="ctr"/>
                      <a:r>
                        <a:rPr sz="1800" b="0">
                          <a:solidFill>
                            <a:srgbClr val="16324F"/>
                          </a:solidFill>
                        </a:rPr>
                        <a:t>+0.54 pp</a:t>
                      </a:r>
                    </a:p>
                  </a:txBody>
                  <a:tcPr marL="133350" marR="95250" marT="95250" marB="95250" anchor="ctr">
                    <a:solidFill>
                      <a:srgbClr val="F0F5FA"/>
                    </a:solidFill>
                  </a:tcPr>
                </a:tc>
              </a:tr>
            </a:tbl>
          </a:graphicData>
        </a:graphic>
      </p:graphicFrame>
      <p:sp>
        <p:nvSpPr>
          <p:cNvPr id="5" name="">
            <a:extLst xmlns:a="http://schemas.openxmlformats.org/drawingml/2006/main">
              <a:ext uri="{FF2B5EF4-FFF2-40B4-BE49-F238E27FC236}">
                <a16:creationId xmlns:a16="http://schemas.microsoft.com/office/drawing/2014/main" id="{7890C415-E153-4765-A1DA-CDE132B1371A}"/>
              </a:ext>
            </a:extLst>
          </p:cNvPr>
          <p:cNvSpPr>
            <a:spLocks xmlns:a="http://schemas.openxmlformats.org/drawingml/2006/main" noGrp="1"/>
          </p:cNvSpPr>
          <p:nvPr/>
        </p:nvSpPr>
        <p:spPr>
          <a:xfrm xmlns:a="http://schemas.openxmlformats.org/drawingml/2006/main">
            <a:off x="762000" y="430530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577"/>
                </a:solidFill>
              </a:defRPr>
            </a:defPPr>
          </a:lstStyle>
          <a:p xmlns:a="http://schemas.openxmlformats.org/drawingml/2006/main">
            <a:pPr>
              <a:defRPr sz="1650" b="0">
                <a:solidFill>
                  <a:srgbClr val="536577"/>
                </a:solidFill>
              </a:defRPr>
            </a:pPr>
            <a:r>
              <a:rPr sz="1650" b="0">
                <a:solidFill>
                  <a:srgbClr val="536577"/>
                </a:solidFill>
              </a:rPr>
              <a:t>*Validation selected isotonic blending. pp = percentage points.</a:t>
            </a:r>
          </a:p>
        </p:txBody>
      </p:sp>
      <p:sp>
        <p:nvSpPr>
          <p:cNvPr id="6" name="">
            <a:extLst xmlns:a="http://schemas.openxmlformats.org/drawingml/2006/main">
              <a:ext uri="{FF2B5EF4-FFF2-40B4-BE49-F238E27FC236}">
                <a16:creationId xmlns:a16="http://schemas.microsoft.com/office/drawing/2014/main" id="{E72D7167-7829-4E31-A819-8AAC0F6B02A2}"/>
              </a:ext>
            </a:extLst>
          </p:cNvPr>
          <p:cNvSpPr>
            <a:spLocks xmlns:a="http://schemas.openxmlformats.org/drawingml/2006/main" noGrp="1"/>
          </p:cNvSpPr>
          <p:nvPr/>
        </p:nvSpPr>
        <p:spPr>
          <a:xfrm xmlns:a="http://schemas.openxmlformats.org/drawingml/2006/main">
            <a:off x="762000" y="49339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63A6"/>
                </a:solidFill>
              </a:defRPr>
            </a:defPPr>
          </a:lstStyle>
          <a:p xmlns:a="http://schemas.openxmlformats.org/drawingml/2006/main">
            <a:pPr>
              <a:defRPr sz="2025" b="1">
                <a:solidFill>
                  <a:srgbClr val="2463A6"/>
                </a:solidFill>
              </a:defRPr>
            </a:pPr>
            <a:r>
              <a:rPr sz="2025" b="1">
                <a:solidFill>
                  <a:srgbClr val="2463A6"/>
                </a:solidFill>
              </a:rPr>
              <a:t>Key finding</a:t>
            </a:r>
          </a:p>
        </p:txBody>
      </p:sp>
      <p:sp>
        <p:nvSpPr>
          <p:cNvPr id="7" name="">
            <a:extLst xmlns:a="http://schemas.openxmlformats.org/drawingml/2006/main">
              <a:ext uri="{FF2B5EF4-FFF2-40B4-BE49-F238E27FC236}">
                <a16:creationId xmlns:a16="http://schemas.microsoft.com/office/drawing/2014/main" id="{D7B1ECA1-EC4D-4123-AD7C-6BD2D75D5D49}"/>
              </a:ext>
            </a:extLst>
          </p:cNvPr>
          <p:cNvSpPr>
            <a:spLocks xmlns:a="http://schemas.openxmlformats.org/drawingml/2006/main" noGrp="1"/>
          </p:cNvSpPr>
          <p:nvPr/>
        </p:nvSpPr>
        <p:spPr>
          <a:xfrm xmlns:a="http://schemas.openxmlformats.org/drawingml/2006/main">
            <a:off x="3714750" y="4895850"/>
            <a:ext cx="7715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24F"/>
                </a:solidFill>
              </a:defRPr>
            </a:defPPr>
          </a:lstStyle>
          <a:p xmlns:a="http://schemas.openxmlformats.org/drawingml/2006/main">
            <a:pPr>
              <a:defRPr sz="1950" b="0">
                <a:solidFill>
                  <a:srgbClr val="16324F"/>
                </a:solidFill>
              </a:defRPr>
            </a:pPr>
            <a:r>
              <a:rPr sz="1950" b="0">
                <a:solidFill>
                  <a:srgbClr val="16324F"/>
                </a:solidFill>
              </a:rPr>
              <a:t>Tuning improves accuracy and calibration.</a:t>
            </a:r>
          </a:p>
          <a:p xmlns:a="http://schemas.openxmlformats.org/drawingml/2006/main">
            <a:pPr>
              <a:defRPr sz="1950" b="0">
                <a:solidFill>
                  <a:srgbClr val="16324F"/>
                </a:solidFill>
              </a:defRPr>
            </a:pPr>
            <a:r>
              <a:rPr sz="1950" b="0">
                <a:solidFill>
                  <a:srgbClr val="16324F"/>
                </a:solidFill>
              </a:rPr>
              <a:t>Brier score improves from 0.1341 to 0.1274 (lower is better).</a:t>
            </a:r>
          </a:p>
        </p:txBody>
      </p:sp>
      <p:sp>
        <p:nvSpPr>
          <p:cNvPr id="8" name="">
            <a:extLst xmlns:a="http://schemas.openxmlformats.org/drawingml/2006/main">
              <a:ext uri="{FF2B5EF4-FFF2-40B4-BE49-F238E27FC236}">
                <a16:creationId xmlns:a16="http://schemas.microsoft.com/office/drawing/2014/main" id="{60409494-357E-42F8-9529-CAA76BEF9AA5}"/>
              </a:ext>
            </a:extLst>
          </p:cNvPr>
          <p:cNvSpPr>
            <a:spLocks xmlns:a="http://schemas.openxmlformats.org/drawingml/2006/main" noGrp="1"/>
          </p:cNvSpPr>
          <p:nvPr/>
        </p:nvSpPr>
        <p:spPr>
          <a:xfrm xmlns:a="http://schemas.openxmlformats.org/drawingml/2006/main">
            <a:off x="762000" y="58769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463A6"/>
                </a:solidFill>
              </a:defRPr>
            </a:defPPr>
          </a:lstStyle>
          <a:p xmlns:a="http://schemas.openxmlformats.org/drawingml/2006/main">
            <a:pPr>
              <a:defRPr sz="1950" b="1">
                <a:solidFill>
                  <a:srgbClr val="2463A6"/>
                </a:solidFill>
              </a:defRPr>
            </a:pPr>
            <a:r>
              <a:rPr sz="1950" b="1">
                <a:solidFill>
                  <a:srgbClr val="2463A6"/>
                </a:solidFill>
              </a:rPr>
              <a:t>Limits and next step</a:t>
            </a:r>
          </a:p>
        </p:txBody>
      </p:sp>
      <p:sp>
        <p:nvSpPr>
          <p:cNvPr id="9" name="">
            <a:extLst xmlns:a="http://schemas.openxmlformats.org/drawingml/2006/main">
              <a:ext uri="{FF2B5EF4-FFF2-40B4-BE49-F238E27FC236}">
                <a16:creationId xmlns:a16="http://schemas.microsoft.com/office/drawing/2014/main" id="{5A77F70B-D1F1-4E99-A928-2FD3CDD7088D}"/>
              </a:ext>
            </a:extLst>
          </p:cNvPr>
          <p:cNvSpPr>
            <a:spLocks xmlns:a="http://schemas.openxmlformats.org/drawingml/2006/main" noGrp="1"/>
          </p:cNvSpPr>
          <p:nvPr/>
        </p:nvSpPr>
        <p:spPr>
          <a:xfrm xmlns:a="http://schemas.openxmlformats.org/drawingml/2006/main">
            <a:off x="3714750" y="583882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324F"/>
                </a:solidFill>
              </a:defRPr>
            </a:defPPr>
          </a:lstStyle>
          <a:p xmlns:a="http://schemas.openxmlformats.org/drawingml/2006/main">
            <a:pPr>
              <a:defRPr sz="1875" b="0">
                <a:solidFill>
                  <a:srgbClr val="16324F"/>
                </a:solidFill>
              </a:defRPr>
            </a:pPr>
            <a:r>
              <a:rPr sz="1875" b="0">
                <a:solidFill>
                  <a:srgbClr val="16324F"/>
                </a:solidFill>
              </a:rPr>
              <a:t>Paper accuracy remains unreproduced. Test richer text models next.</a:t>
            </a:r>
          </a:p>
        </p:txBody>
      </p:sp>
    </p:spTree>
    <p:extLst>
      <p:ext uri="{BB962C8B-B14F-4D97-AF65-F5344CB8AC3E}">
        <p14:creationId xmlns:p14="http://schemas.microsoft.com/office/powerpoint/2010/main" val="1940421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2026-10-08T15:48:25.4840000Z</dcterms:created>
  <dcterms:modified xsi:type="dcterms:W3CDTF">2026-10-08T15:48:25.4840000Z</dcterms:modified>
</coreProperties>
</file>